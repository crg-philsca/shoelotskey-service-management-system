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0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12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7111-28D4-595A-646E-12552AEA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3">
            <a:extLst>
              <a:ext uri="{FF2B5EF4-FFF2-40B4-BE49-F238E27FC236}">
                <a16:creationId xmlns:a16="http://schemas.microsoft.com/office/drawing/2014/main" id="{FF9C8C7D-0BEA-78FA-224E-FF4F077E2B03}"/>
              </a:ext>
            </a:extLst>
          </p:cNvPr>
          <p:cNvSpPr txBox="1"/>
          <p:nvPr/>
        </p:nvSpPr>
        <p:spPr>
          <a:xfrm>
            <a:off x="0" y="0"/>
            <a:ext cx="12192000" cy="612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Aviation Academy of the Philippines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Institute of Computer Studies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2E266-F2DE-09DE-5044-E671914F5E43}"/>
              </a:ext>
            </a:extLst>
          </p:cNvPr>
          <p:cNvSpPr txBox="1"/>
          <p:nvPr/>
        </p:nvSpPr>
        <p:spPr>
          <a:xfrm>
            <a:off x="1558346" y="1276982"/>
            <a:ext cx="88799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A Web-Based Service Management System with Data Analytics using Machine Learning Algorithms for </a:t>
            </a:r>
            <a:r>
              <a:rPr lang="en-US" sz="2800" dirty="0" err="1">
                <a:latin typeface="Arial"/>
                <a:ea typeface="Arial"/>
                <a:cs typeface="Arial"/>
                <a:sym typeface="Arial"/>
              </a:rPr>
              <a:t>Shoelotskey</a:t>
            </a: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 Villamor-Pasay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5CB23-8F61-9FCC-967B-B627CC66F57F}"/>
              </a:ext>
            </a:extLst>
          </p:cNvPr>
          <p:cNvSpPr txBox="1"/>
          <p:nvPr/>
        </p:nvSpPr>
        <p:spPr>
          <a:xfrm>
            <a:off x="0" y="3326638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Researchers: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B3019-40E1-040A-BB63-176986F2D778}"/>
              </a:ext>
            </a:extLst>
          </p:cNvPr>
          <p:cNvSpPr txBox="1"/>
          <p:nvPr/>
        </p:nvSpPr>
        <p:spPr>
          <a:xfrm>
            <a:off x="0" y="4012364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Angeles, Charmaine Rose 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A0279-F7E0-565A-334C-7064BF121D1D}"/>
              </a:ext>
            </a:extLst>
          </p:cNvPr>
          <p:cNvSpPr txBox="1"/>
          <p:nvPr/>
        </p:nvSpPr>
        <p:spPr>
          <a:xfrm>
            <a:off x="3047452" y="4381696"/>
            <a:ext cx="6094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Gravino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Kylane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D2970C-EA53-120E-BF56-E2E6E659A4B7}"/>
              </a:ext>
            </a:extLst>
          </p:cNvPr>
          <p:cNvSpPr txBox="1"/>
          <p:nvPr/>
        </p:nvSpPr>
        <p:spPr>
          <a:xfrm>
            <a:off x="3047452" y="4781806"/>
            <a:ext cx="6094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Sedanto, Melody 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606D6B-B9E3-03E6-FB1F-FBCA66D19752}"/>
              </a:ext>
            </a:extLst>
          </p:cNvPr>
          <p:cNvSpPr txBox="1"/>
          <p:nvPr/>
        </p:nvSpPr>
        <p:spPr>
          <a:xfrm>
            <a:off x="3047452" y="5893319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321" lvl="0" indent="0" algn="ctr" rtl="0">
              <a:lnSpc>
                <a:spcPct val="99960"/>
              </a:lnSpc>
              <a:spcBef>
                <a:spcPts val="996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October 7, 2026</a:t>
            </a:r>
          </a:p>
        </p:txBody>
      </p:sp>
    </p:spTree>
    <p:extLst>
      <p:ext uri="{BB962C8B-B14F-4D97-AF65-F5344CB8AC3E}">
        <p14:creationId xmlns:p14="http://schemas.microsoft.com/office/powerpoint/2010/main" val="295840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3">
            <a:extLst>
              <a:ext uri="{FF2B5EF4-FFF2-40B4-BE49-F238E27FC236}">
                <a16:creationId xmlns:a16="http://schemas.microsoft.com/office/drawing/2014/main" id="{3104DD94-A8CD-A31B-B9DB-7289A8994BBC}"/>
              </a:ext>
            </a:extLst>
          </p:cNvPr>
          <p:cNvSpPr txBox="1"/>
          <p:nvPr/>
        </p:nvSpPr>
        <p:spPr>
          <a:xfrm>
            <a:off x="0" y="0"/>
            <a:ext cx="12192000" cy="612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Aviation Academy of the Philippines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Institute of Computer Studies</a:t>
            </a:r>
            <a:endParaRPr/>
          </a:p>
        </p:txBody>
      </p:sp>
      <p:pic>
        <p:nvPicPr>
          <p:cNvPr id="3" name="Final Intro Defense">
            <a:hlinkClick r:id="" action="ppaction://media"/>
            <a:extLst>
              <a:ext uri="{FF2B5EF4-FFF2-40B4-BE49-F238E27FC236}">
                <a16:creationId xmlns:a16="http://schemas.microsoft.com/office/drawing/2014/main" id="{7A1B32A2-4EC3-9EFF-BAAA-0D8A2A604E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9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1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Introduction: From Manual Operations to a Data-Driven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25603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82296" cy="12344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7556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E4141"/>
                </a:solidFill>
                <a:latin typeface="Arial"/>
              </a:rPr>
              <a:t>3–10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21992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Job-order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78608"/>
            <a:ext cx="219456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46464"/>
                </a:solidFill>
                <a:latin typeface="Arial"/>
              </a:rPr>
              <a:t>Pre-assessment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645920"/>
            <a:ext cx="25603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645920"/>
            <a:ext cx="82296" cy="12344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17556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E4141"/>
                </a:solidFill>
                <a:latin typeface="Arial"/>
              </a:rPr>
              <a:t>2–3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221992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Status-update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578608"/>
            <a:ext cx="219456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46464"/>
                </a:solidFill>
                <a:latin typeface="Arial"/>
              </a:rPr>
              <a:t>Manual updating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645920"/>
            <a:ext cx="25603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645920"/>
            <a:ext cx="82296" cy="12344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17556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E4141"/>
                </a:solidFill>
                <a:latin typeface="Arial"/>
              </a:rPr>
              <a:t>1–2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221992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Report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578608"/>
            <a:ext cx="219456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46464"/>
                </a:solidFill>
                <a:latin typeface="Arial"/>
              </a:rPr>
              <a:t>Per manual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1645920"/>
            <a:ext cx="25603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1645920"/>
            <a:ext cx="82296" cy="123444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33688" y="17556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E4141"/>
                </a:solidFill>
                <a:latin typeface="Arial"/>
              </a:rPr>
              <a:t>280–300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2221992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Monthly 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578608"/>
            <a:ext cx="219456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46464"/>
                </a:solidFill>
                <a:latin typeface="Arial"/>
              </a:rPr>
              <a:t>Service 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154680"/>
            <a:ext cx="5257800" cy="2331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38328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THE OPERATIONAL NEED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4480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dirty="0">
                <a:solidFill>
                  <a:srgbClr val="252525"/>
                </a:solidFill>
                <a:latin typeface="Arial"/>
              </a:rPr>
              <a:t>Paper-based and fragmented records made retrieval, monitoring, report consolidation, and consistent completion-date estimation more difficult.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154680"/>
            <a:ext cx="5303520" cy="233172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RESEARCH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49039"/>
            <a:ext cx="456684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000000"/>
                </a:solidFill>
                <a:latin typeface="Arial"/>
              </a:rPr>
              <a:t>Limited research integrates centralized service management, inventory monitoring, real-time analytics, and predictive modeling in one system tailored to a micro shoe-service business.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4748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Study response → one integrated Shoelotskey-specific web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Objectives of the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87452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4708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Manual vs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3645" y="2418922"/>
            <a:ext cx="2343955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Accessibility • retrieval time •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69164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187452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2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4708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18921"/>
            <a:ext cx="24199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MAE • RMSE • R² • prediction tolerance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69164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187452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187452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84708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341977"/>
            <a:ext cx="2286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Reporting efficiency • information access •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5760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384048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1304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ISO/IEC 25010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84882"/>
            <a:ext cx="2286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Nine software-quality characteristics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59" y="365760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34840" y="384048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84048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81304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Technology Acceptance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84882"/>
            <a:ext cx="2286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PU • PEOU • BI • Actual System 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657600"/>
            <a:ext cx="3429000" cy="15087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3879" y="3840480"/>
            <a:ext cx="530352" cy="53035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384048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1304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Future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307937"/>
            <a:ext cx="2286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Evidence-based improvements and additional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33872"/>
            <a:ext cx="11155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Presentation flow: Result → Discussion → Finding → Conclusion →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 1 — Manual vs. Digital Record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46888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82296" cy="128016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70992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BE4141"/>
                </a:solidFill>
                <a:latin typeface="Arial"/>
              </a:rPr>
              <a:t>5.20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762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Manual mean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600200"/>
            <a:ext cx="246888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54680" y="1600200"/>
            <a:ext cx="82296" cy="1280160"/>
          </a:xfrm>
          <a:prstGeom prst="rect">
            <a:avLst/>
          </a:prstGeom>
          <a:solidFill>
            <a:srgbClr val="278C56"/>
          </a:solidFill>
          <a:ln>
            <a:solidFill>
              <a:srgbClr val="27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70992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78C56"/>
                </a:solidFill>
                <a:latin typeface="Arial"/>
              </a:rPr>
              <a:t>0.41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1762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Digital mean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246888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1600200"/>
            <a:ext cx="82296" cy="1280160"/>
          </a:xfrm>
          <a:prstGeom prst="rect">
            <a:avLst/>
          </a:prstGeom>
          <a:solidFill>
            <a:srgbClr val="256096"/>
          </a:solidFill>
          <a:ln>
            <a:solidFill>
              <a:srgbClr val="25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07607" y="170992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096"/>
                </a:solidFill>
                <a:latin typeface="Arial"/>
              </a:rPr>
              <a:t>92.12%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217627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Mean 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600200"/>
            <a:ext cx="283464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600200"/>
            <a:ext cx="82296" cy="1280160"/>
          </a:xfrm>
          <a:prstGeom prst="rect">
            <a:avLst/>
          </a:prstGeom>
          <a:solidFill>
            <a:srgbClr val="278C56"/>
          </a:solidFill>
          <a:ln>
            <a:solidFill>
              <a:srgbClr val="27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8" y="1595508"/>
            <a:ext cx="246888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278C56"/>
                </a:solidFill>
                <a:latin typeface="Arial"/>
              </a:rPr>
              <a:t>0 duplicate </a:t>
            </a:r>
            <a:endParaRPr lang="en-PH" sz="2300" b="1" dirty="0">
              <a:solidFill>
                <a:srgbClr val="278C56"/>
              </a:solidFill>
              <a:latin typeface="Arial"/>
            </a:endParaRPr>
          </a:p>
          <a:p>
            <a:pPr algn="ctr"/>
            <a:r>
              <a:rPr lang="en-PH" sz="2300" b="1" dirty="0">
                <a:solidFill>
                  <a:srgbClr val="278C56"/>
                </a:solidFill>
                <a:latin typeface="Arial"/>
              </a:rPr>
              <a:t>  </a:t>
            </a:r>
            <a:r>
              <a:rPr sz="2300" b="1" dirty="0">
                <a:solidFill>
                  <a:srgbClr val="278C56"/>
                </a:solidFill>
                <a:latin typeface="Arial"/>
              </a:rPr>
              <a:t>0 incomplete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2313431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Arial"/>
              </a:rPr>
              <a:t>Digital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2560319"/>
            <a:ext cx="246888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latin typeface="Arial"/>
              </a:rPr>
              <a:t>31 job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46120"/>
            <a:ext cx="10972800" cy="19659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456432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3405174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Arial"/>
              </a:rPr>
              <a:t>Centralized digital retrieval was substantially faster. The digital pilot also showed complete records under the evaluated conditions.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8" y="4048086"/>
            <a:ext cx="925372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latin typeface="Arial"/>
              </a:rPr>
              <a:t>Historical manual audit: 50 of 119 records (42.0%) </a:t>
            </a:r>
            <a:r>
              <a:rPr sz="1200" b="0" dirty="0">
                <a:latin typeface="Arial"/>
              </a:rPr>
              <a:t>lacked claim/completion dates. </a:t>
            </a:r>
            <a:r>
              <a:rPr sz="1200" b="1" dirty="0">
                <a:latin typeface="Arial"/>
              </a:rPr>
              <a:t>Digital pilot: 3 post-entry corrections (9.68%). </a:t>
            </a:r>
            <a:r>
              <a:rPr sz="1200" b="0" dirty="0">
                <a:latin typeface="Arial"/>
              </a:rPr>
              <a:t>Accuracy findings remain descriptive because the manual and digital evidence came from different periods.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CONCLUSION → Improved accessibility, completeness, validation, and retrieval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 2 — Random Forest Predictive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166360" cy="43434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023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E4141"/>
                </a:solidFill>
                <a:latin typeface="Arial"/>
              </a:rPr>
              <a:t>DATASET A • HISTORICAL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4389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119 validated orders from 714 paper receipts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2525"/>
                </a:solidFill>
                <a:latin typeface="Arial"/>
              </a:rPr>
              <a:t>Target: Order-to-Claim Turnaround
Issue: customer pickup behavior is included in Claim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82296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160" y="3580766"/>
            <a:ext cx="1039367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BE4141"/>
                </a:solidFill>
                <a:latin typeface="Arial"/>
              </a:rPr>
              <a:t>8.35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7712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67712" y="3474720"/>
            <a:ext cx="82296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47302" y="3580766"/>
            <a:ext cx="1197864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BE4141"/>
                </a:solidFill>
                <a:latin typeface="Arial"/>
              </a:rPr>
              <a:t>10.19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RMSE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58184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58184" y="3474720"/>
            <a:ext cx="82296" cy="114300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9331" y="3580766"/>
            <a:ext cx="128016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BE4141"/>
                </a:solidFill>
                <a:latin typeface="Arial"/>
              </a:rPr>
              <a:t>−0.0125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39" y="5004108"/>
            <a:ext cx="465120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BE4141"/>
                </a:solidFill>
                <a:latin typeface="Arial"/>
              </a:rPr>
              <a:t>Finding: historical Order-to-Claim did not directly represent actual service completion.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600200"/>
            <a:ext cx="5349240" cy="434340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8" y="182880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DATASET B • FINAL OPERATIONAL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212848"/>
            <a:ext cx="4389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rial"/>
              </a:rPr>
              <a:t>10,000 simulated operational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710190"/>
            <a:ext cx="43891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000000"/>
                </a:solidFill>
                <a:latin typeface="Arial"/>
              </a:rPr>
              <a:t>7,000 train • 1,500 validation • 1,500 final test
Target: Received → Ready-for-Release Duration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6208" y="3474720"/>
            <a:ext cx="82296" cy="1143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5541" y="3587645"/>
            <a:ext cx="144170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000000"/>
                </a:solidFill>
                <a:latin typeface="Arial"/>
              </a:rPr>
              <a:t>0.0815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26679" y="3474720"/>
            <a:ext cx="82296" cy="1143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6073" y="3587645"/>
            <a:ext cx="149047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000000"/>
                </a:solidFill>
                <a:latin typeface="Arial"/>
              </a:rPr>
              <a:t>0.4042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RMSE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17152" y="3474720"/>
            <a:ext cx="132588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17152" y="3474720"/>
            <a:ext cx="82296" cy="1143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48000" y="3588084"/>
            <a:ext cx="1145319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000000"/>
                </a:solidFill>
                <a:latin typeface="Arial"/>
              </a:rPr>
              <a:t>0.9976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050791"/>
            <a:ext cx="9601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28032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97.20% within ±1 day • 100% within ±5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5228136"/>
            <a:ext cx="43891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Conclusion → Strong predictive performance under Dataset B's simulated operational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 3 — Analytics Dashboard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51460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82296" cy="1280160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709928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E4141"/>
                </a:solidFill>
                <a:latin typeface="Arial"/>
              </a:rPr>
              <a:t>43.71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7627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Manual report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22405"/>
            <a:ext cx="22677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Overall mean across 7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600200"/>
            <a:ext cx="251460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600200"/>
            <a:ext cx="82296" cy="1280160"/>
          </a:xfrm>
          <a:prstGeom prst="rect">
            <a:avLst/>
          </a:prstGeom>
          <a:solidFill>
            <a:srgbClr val="278C56"/>
          </a:solidFill>
          <a:ln>
            <a:solidFill>
              <a:srgbClr val="27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01568" y="1709928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78C56"/>
                </a:solidFill>
                <a:latin typeface="Arial"/>
              </a:rPr>
              <a:t>0.0838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7627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Dashboard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522405"/>
            <a:ext cx="21488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Application/API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00200"/>
            <a:ext cx="251460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7880" y="1600200"/>
            <a:ext cx="82296" cy="1280160"/>
          </a:xfrm>
          <a:prstGeom prst="rect">
            <a:avLst/>
          </a:prstGeom>
          <a:solidFill>
            <a:srgbClr val="256096"/>
          </a:solidFill>
          <a:ln>
            <a:solidFill>
              <a:srgbClr val="25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1709928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096"/>
                </a:solidFill>
                <a:latin typeface="Arial"/>
              </a:rPr>
              <a:t>7 / 7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76272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Content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533946"/>
            <a:ext cx="222714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latin typeface="Arial"/>
              </a:rPr>
              <a:t>Independent calculations matched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1600200"/>
            <a:ext cx="2697480" cy="128016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95360" y="1600200"/>
            <a:ext cx="82296" cy="1280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17099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07"/>
                </a:solidFill>
                <a:latin typeface="Arial"/>
              </a:rPr>
              <a:t>3.83 /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176272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Dashboard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2522405"/>
            <a:ext cx="23317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Highly Acceptable • n=6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246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REPORTS VERIFIED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Daily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5740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Weekly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1188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59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359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Quarterly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Annual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Expenses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9800" y="3611880"/>
            <a:ext cx="1325880" cy="56692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29800" y="3611880"/>
            <a:ext cx="1325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ROI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526280"/>
            <a:ext cx="10972800" cy="105156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" y="481888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000000"/>
                </a:solidFill>
                <a:latin typeface="Arial"/>
              </a:rPr>
              <a:t>99.9968% observed reduction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4783986"/>
            <a:ext cx="705916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Applies specifically to the evaluated report-generation stage; manual timings measured human preparation, while digital timings measured application/API processing after records were digitized.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29187"/>
            <a:ext cx="10972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rial"/>
              </a:rPr>
              <a:t>Conclusion → Faster report generation with verified content and accessible operational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 4 — Software Quality: ISO/IEC 25010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7315200" cy="429768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Functional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0536" y="1938527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0536" y="1938527"/>
            <a:ext cx="2794205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7843" y="1873403"/>
            <a:ext cx="86776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 dirty="0">
                <a:solidFill>
                  <a:srgbClr val="FFC107"/>
                </a:solidFill>
                <a:latin typeface="Arial"/>
              </a:rPr>
              <a:t>3.64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0536" y="2331720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0536" y="2331720"/>
            <a:ext cx="282491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7843" y="2267712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60903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Compatibility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0536" y="2724911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80536" y="2724911"/>
            <a:ext cx="2886321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7843" y="2660903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54096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Interaction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0536" y="3118103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0536" y="3118103"/>
            <a:ext cx="2855616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7843" y="3054096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47287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Reliability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0536" y="3511295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0536" y="3511295"/>
            <a:ext cx="2855616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7843" y="3447287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840479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Security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0536" y="3904487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0536" y="3904487"/>
            <a:ext cx="282491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7843" y="3840479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33672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Maintainability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0536" y="4297680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0536" y="4297680"/>
            <a:ext cx="2855616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7843" y="4233672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26864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Flexibility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0536" y="4690872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80536" y="4690872"/>
            <a:ext cx="2947732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7843" y="4626864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020056"/>
            <a:ext cx="253654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Safety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0536" y="5084064"/>
            <a:ext cx="3070555" cy="10972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80536" y="5084064"/>
            <a:ext cx="2794205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7843" y="5020056"/>
            <a:ext cx="86776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FC107"/>
                </a:solidFill>
                <a:latin typeface="Arial"/>
              </a:rPr>
              <a:t>3.64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1600200"/>
            <a:ext cx="3200400" cy="182880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18470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9 /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395728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Quality characteristics
Highly Acceptable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657600"/>
            <a:ext cx="3200400" cy="224028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66760" y="388620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latin typeface="Arial"/>
              </a:rPr>
              <a:t>Highest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187952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Flexibility
3.84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045026"/>
            <a:ext cx="2799223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latin typeface="Arial"/>
              </a:rPr>
              <a:t>IT experts: n=5
Supported by applicable technical tests / artifact inspection.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Objective 5 — User Acceptance: Technology Acceptance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2468880" cy="1874519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82296" cy="18745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80136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07"/>
                </a:solidFill>
                <a:latin typeface="Arial"/>
              </a:rPr>
              <a:t>4.00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677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Perceived Usefulness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110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Immediate usefulness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691640"/>
            <a:ext cx="2468880" cy="1874519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691640"/>
            <a:ext cx="82296" cy="18745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180136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07"/>
                </a:solidFill>
                <a:latin typeface="Arial"/>
              </a:rPr>
              <a:t>3.89 /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2677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Ease of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9110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Usability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691640"/>
            <a:ext cx="2468880" cy="1874519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1691640"/>
            <a:ext cx="82296" cy="18745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180136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07"/>
                </a:solidFill>
                <a:latin typeface="Arial"/>
              </a:rPr>
              <a:t>3.61 /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2677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Behavioral Intention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9110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Continued-use intention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1691640"/>
            <a:ext cx="2468880" cy="1874519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1691640"/>
            <a:ext cx="82296" cy="18745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33688" y="180136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C107"/>
                </a:solidFill>
                <a:latin typeface="Arial"/>
              </a:rPr>
              <a:t>4.00 /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22677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Actual System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9110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Pilot-period 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10972800" cy="155448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196851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Arial"/>
              </a:rPr>
              <a:t>FINDING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118256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252525"/>
                </a:solidFill>
                <a:latin typeface="Arial"/>
              </a:rPr>
              <a:t>All four TAM constructs were interpreted as Highly Acceptable among six intended users.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782068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Arial"/>
              </a:rPr>
              <a:t>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688639"/>
            <a:ext cx="88696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252525"/>
                </a:solidFill>
                <a:latin typeface="Arial"/>
              </a:rPr>
              <a:t>Perceived Usefulness and Actual System Use were highest (4.00). Behavioral Intention was lowest (3.61) but remained Highly Acceptable; the two-week pilot does not establish sustained long-term adoption.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26287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Arial"/>
              </a:rPr>
              <a:t>Conclusion → Positive usefulness, usability, intention, and reported system use during the evaluation period.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Summary of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1965960" cy="3474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61288" y="1993392"/>
            <a:ext cx="640080" cy="64008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9933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92.12%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135429"/>
            <a:ext cx="16367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PH" sz="1200" b="0" dirty="0">
                <a:latin typeface="Arial"/>
              </a:rPr>
              <a:t>L</a:t>
            </a:r>
            <a:r>
              <a:rPr sz="1200" b="0" dirty="0" err="1">
                <a:latin typeface="Arial"/>
              </a:rPr>
              <a:t>ower</a:t>
            </a:r>
            <a:r>
              <a:rPr lang="en-PH" sz="1200" dirty="0">
                <a:latin typeface="Arial"/>
              </a:rPr>
              <a:t> </a:t>
            </a:r>
            <a:r>
              <a:rPr lang="en-PH" sz="1200" b="0" dirty="0">
                <a:latin typeface="Arial"/>
              </a:rPr>
              <a:t>m</a:t>
            </a:r>
            <a:r>
              <a:rPr sz="1200" b="0" dirty="0" err="1">
                <a:latin typeface="Arial"/>
              </a:rPr>
              <a:t>ean</a:t>
            </a:r>
            <a:r>
              <a:rPr sz="1200" b="0" dirty="0">
                <a:latin typeface="Arial"/>
              </a:rPr>
              <a:t> retrieval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15768" y="1737360"/>
            <a:ext cx="1965960" cy="3474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74135" y="1993392"/>
            <a:ext cx="640080" cy="64008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5" y="19933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7" y="27889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7" y="33375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0.9976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227762"/>
            <a:ext cx="163677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Dataset B final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28616" y="1737360"/>
            <a:ext cx="1965960" cy="3474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86983" y="1993392"/>
            <a:ext cx="640080" cy="64008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3" y="19933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27889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33375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7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4241476"/>
            <a:ext cx="174547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reports content-verified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41464" y="1737360"/>
            <a:ext cx="1965960" cy="3474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99831" y="1993392"/>
            <a:ext cx="640080" cy="64008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99831" y="19933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27889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4" y="33375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9 /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5" y="3996929"/>
            <a:ext cx="1636776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latin typeface="Arial"/>
              </a:rPr>
              <a:t>ISO characteristics Highly Acceptable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54312" y="1737360"/>
            <a:ext cx="1965960" cy="34747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012680" y="1993392"/>
            <a:ext cx="640080" cy="64008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12680" y="19933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278892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ACCEPTANCE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333756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4 /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8904" y="4135428"/>
            <a:ext cx="16367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latin typeface="Arial"/>
              </a:rPr>
              <a:t>TAM constructs Highly Acceptable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673739"/>
            <a:ext cx="11109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rial"/>
              </a:rPr>
              <a:t>Overall: the developed system addressed the targeted operational requirements under the evaluated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0972800" cy="960120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The study achieved its primary objective of designing, developing, implementing, and evaluating the centralized Shoelotskey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52578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Arial"/>
              </a:rPr>
              <a:t>CENTRALIZED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157020"/>
            <a:ext cx="26060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Faster retrieval and structured digital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3017520"/>
            <a:ext cx="52578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312724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REAL-TIME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7020"/>
            <a:ext cx="2743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Automated reporting and operational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52578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ML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4391460"/>
            <a:ext cx="26060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Ready-for-Release Duration → ML Predicted Release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4251960"/>
            <a:ext cx="525780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436168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QUALITY &amp;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60683"/>
            <a:ext cx="269554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latin typeface="Arial"/>
              </a:rPr>
              <a:t>Highly Acceptable expert and intended-user evaluations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" y="5804540"/>
            <a:ext cx="1102367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Evidence boundary: Dataset B demonstrates strong simulated-condition ML performance; continued actual Ready-for-Release data collection is recommended for real-world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27432"/>
            <a:ext cx="4206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National Aviation Academy of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468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rial"/>
              </a:rPr>
              <a:t>Institute of Computer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Arial"/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09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92840" y="768096"/>
            <a:ext cx="384048" cy="3840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768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097280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1627631"/>
            <a:ext cx="493776" cy="493776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627631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81912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REAL OPERATIONAL ML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616256"/>
            <a:ext cx="68122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Continuously capture actual For Release / Ready-for-Release timestamps; validate and retrain the Random Forest when sufficient data are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41448"/>
            <a:ext cx="1097280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2560320"/>
            <a:ext cx="493776" cy="493776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560320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1460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CONFIGURABILITY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48944"/>
            <a:ext cx="68122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Expand flexible dropdown options for brands, couriers, models, and other changing business entries.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74136"/>
            <a:ext cx="1097280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3493008"/>
            <a:ext cx="493776" cy="493776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49300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44728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481632"/>
            <a:ext cx="68122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Strengthen detailed inventory movement audit logs and maintain backups, permissions, and security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306824"/>
            <a:ext cx="1097280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4425696"/>
            <a:ext cx="493776" cy="493776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425696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379976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506653"/>
            <a:ext cx="6812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Consider automated SMS/email notifications for order-status changes.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9512"/>
            <a:ext cx="10972800" cy="749808"/>
          </a:xfrm>
          <a:prstGeom prst="round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13232" y="5358384"/>
            <a:ext cx="493776" cy="493776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358384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312664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ENGINEERING &amp; LONGER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347008"/>
            <a:ext cx="68122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latin typeface="Arial"/>
              </a:rPr>
              <a:t>Improve modularity, migrations, documentation, automated testing, and conduct longer-term evaluation with more operational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4;p3">
            <a:extLst>
              <a:ext uri="{FF2B5EF4-FFF2-40B4-BE49-F238E27FC236}">
                <a16:creationId xmlns:a16="http://schemas.microsoft.com/office/drawing/2014/main" id="{29279EB2-8B08-8504-6CC4-CF6B2D8EE637}"/>
              </a:ext>
            </a:extLst>
          </p:cNvPr>
          <p:cNvSpPr txBox="1"/>
          <p:nvPr/>
        </p:nvSpPr>
        <p:spPr>
          <a:xfrm>
            <a:off x="0" y="0"/>
            <a:ext cx="12192000" cy="612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Aviation Academy of the Philippines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Institute of Computer Studies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74C2F-1DBA-4B65-918C-B4B90DD50063}"/>
              </a:ext>
            </a:extLst>
          </p:cNvPr>
          <p:cNvSpPr txBox="1"/>
          <p:nvPr/>
        </p:nvSpPr>
        <p:spPr>
          <a:xfrm>
            <a:off x="-1" y="2401910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8800" dirty="0">
                <a:cs typeface="Arial" panose="020B06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1302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4;p3">
            <a:extLst>
              <a:ext uri="{FF2B5EF4-FFF2-40B4-BE49-F238E27FC236}">
                <a16:creationId xmlns:a16="http://schemas.microsoft.com/office/drawing/2014/main" id="{29279EB2-8B08-8504-6CC4-CF6B2D8EE637}"/>
              </a:ext>
            </a:extLst>
          </p:cNvPr>
          <p:cNvSpPr txBox="1"/>
          <p:nvPr/>
        </p:nvSpPr>
        <p:spPr>
          <a:xfrm>
            <a:off x="0" y="0"/>
            <a:ext cx="12192000" cy="612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Aviation Academy of the Philippines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Institute of Computer Studies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74C2F-1DBA-4B65-918C-B4B90DD50063}"/>
              </a:ext>
            </a:extLst>
          </p:cNvPr>
          <p:cNvSpPr txBox="1"/>
          <p:nvPr/>
        </p:nvSpPr>
        <p:spPr>
          <a:xfrm>
            <a:off x="-1" y="2401910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PH" sz="8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Thank You!</a:t>
            </a:r>
            <a:endParaRPr lang="en-PH" sz="8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687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1101</Words>
  <Application>Microsoft Office PowerPoint</Application>
  <PresentationFormat>Widescreen</PresentationFormat>
  <Paragraphs>243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ROG</dc:creator>
  <cp:keywords/>
  <dc:description>generated using python-pptx</dc:description>
  <cp:lastModifiedBy>Charmaine Rose Angeles</cp:lastModifiedBy>
  <cp:revision>13</cp:revision>
  <dcterms:created xsi:type="dcterms:W3CDTF">2013-01-27T09:14:16Z</dcterms:created>
  <dcterms:modified xsi:type="dcterms:W3CDTF">2026-10-07T09:50:18Z</dcterms:modified>
  <cp:category/>
</cp:coreProperties>
</file>
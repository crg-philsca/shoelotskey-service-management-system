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maH+aE+yz3RqFMNATrRhAUL1B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AC4E9A-D7AF-4B5B-B466-96A7120604E6}">
  <a:tblStyle styleId="{3BAC4E9A-D7AF-4B5B-B466-96A7120604E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F1B6BCEA-272E-4131-8E55-66BDB6B9899D}"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5183188" y="987425"/>
            <a:ext cx="6172200" cy="4873625"/>
          </a:xfrm>
          <a:prstGeom prst="rect">
            <a:avLst/>
          </a:prstGeom>
          <a:noFill/>
          <a:ln>
            <a:noFill/>
          </a:ln>
        </p:spPr>
      </p:sp>
      <p:sp>
        <p:nvSpPr>
          <p:cNvPr id="64" name="Google Shape;64;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0" y="0"/>
            <a:ext cx="12192000" cy="612321"/>
          </a:xfrm>
          <a:prstGeom prst="rect">
            <a:avLst/>
          </a:prstGeom>
          <a:solidFill>
            <a:srgbClr val="FFC000"/>
          </a:solid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1600"/>
              <a:buFont typeface="Calibri"/>
              <a:buNone/>
            </a:pPr>
            <a:r>
              <a:rPr lang="en-US" sz="1600"/>
              <a:t>National Aviation Academy of the Philippines</a:t>
            </a:r>
            <a:br>
              <a:rPr lang="en-US" sz="2000"/>
            </a:br>
            <a:r>
              <a:rPr b="1" lang="en-US" sz="2000"/>
              <a:t>Institute of Computer Studies</a:t>
            </a:r>
            <a:endParaRPr/>
          </a:p>
        </p:txBody>
      </p:sp>
      <p:sp>
        <p:nvSpPr>
          <p:cNvPr id="85" name="Google Shape;85;p1"/>
          <p:cNvSpPr txBox="1"/>
          <p:nvPr>
            <p:ph idx="1" type="subTitle"/>
          </p:nvPr>
        </p:nvSpPr>
        <p:spPr>
          <a:xfrm>
            <a:off x="0" y="1804251"/>
            <a:ext cx="12192000" cy="80667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None/>
            </a:pPr>
            <a:r>
              <a:rPr lang="en-US" sz="4000">
                <a:latin typeface="Arial"/>
                <a:ea typeface="Arial"/>
                <a:cs typeface="Arial"/>
                <a:sym typeface="Arial"/>
              </a:rPr>
              <a:t>Faculty Evaluation System</a:t>
            </a:r>
            <a:endParaRPr/>
          </a:p>
        </p:txBody>
      </p:sp>
      <p:sp>
        <p:nvSpPr>
          <p:cNvPr id="86" name="Google Shape;86;p1"/>
          <p:cNvSpPr txBox="1"/>
          <p:nvPr/>
        </p:nvSpPr>
        <p:spPr>
          <a:xfrm>
            <a:off x="0" y="3428999"/>
            <a:ext cx="12192000" cy="640081"/>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Researchers:</a:t>
            </a:r>
            <a:endParaRPr/>
          </a:p>
        </p:txBody>
      </p:sp>
      <p:sp>
        <p:nvSpPr>
          <p:cNvPr id="87" name="Google Shape;87;p1"/>
          <p:cNvSpPr txBox="1"/>
          <p:nvPr/>
        </p:nvSpPr>
        <p:spPr>
          <a:xfrm>
            <a:off x="0" y="4158676"/>
            <a:ext cx="12192000" cy="1074632"/>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Lewis, Dannica</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Aldos, Dannie</a:t>
            </a:r>
            <a:endParaRPr/>
          </a:p>
          <a:p>
            <a:pPr indent="0" lvl="0" marL="0" marR="0" rtl="0" algn="ctr">
              <a:lnSpc>
                <a:spcPct val="90000"/>
              </a:lnSpc>
              <a:spcBef>
                <a:spcPts val="10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Teodore, Mia</a:t>
            </a:r>
            <a:endParaRPr/>
          </a:p>
          <a:p>
            <a:pPr indent="0" lvl="0" marL="0" marR="0" rtl="0" algn="ctr">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88" name="Google Shape;88;p1"/>
          <p:cNvSpPr txBox="1"/>
          <p:nvPr/>
        </p:nvSpPr>
        <p:spPr>
          <a:xfrm>
            <a:off x="0" y="5911275"/>
            <a:ext cx="12192000" cy="489525"/>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March 12,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205595" y="458326"/>
            <a:ext cx="10515600" cy="81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1 : Introduction</a:t>
            </a:r>
            <a:endParaRPr/>
          </a:p>
        </p:txBody>
      </p:sp>
      <p:graphicFrame>
        <p:nvGraphicFramePr>
          <p:cNvPr id="94" name="Google Shape;94;p2"/>
          <p:cNvGraphicFramePr/>
          <p:nvPr/>
        </p:nvGraphicFramePr>
        <p:xfrm>
          <a:off x="327672" y="1393976"/>
          <a:ext cx="3000000" cy="3000000"/>
        </p:xfrm>
        <a:graphic>
          <a:graphicData uri="http://schemas.openxmlformats.org/drawingml/2006/table">
            <a:tbl>
              <a:tblPr bandRow="1" firstRow="1">
                <a:noFill/>
                <a:tableStyleId>{3BAC4E9A-D7AF-4B5B-B466-96A7120604E6}</a:tableStyleId>
              </a:tblPr>
              <a:tblGrid>
                <a:gridCol w="3063675"/>
                <a:gridCol w="3382825"/>
                <a:gridCol w="5090175"/>
              </a:tblGrid>
              <a:tr h="370850">
                <a:tc>
                  <a:txBody>
                    <a:bodyPr/>
                    <a:lstStyle/>
                    <a:p>
                      <a:pPr indent="0" lvl="0" marL="0" marR="0" rtl="0" algn="ctr">
                        <a:spcBef>
                          <a:spcPts val="0"/>
                        </a:spcBef>
                        <a:spcAft>
                          <a:spcPts val="0"/>
                        </a:spcAft>
                        <a:buNone/>
                      </a:pPr>
                      <a:r>
                        <a:rPr lang="en-US" sz="2800" u="none" cap="none" strike="noStrike"/>
                        <a:t>Research Gap</a:t>
                      </a:r>
                      <a:endParaRPr/>
                    </a:p>
                  </a:txBody>
                  <a:tcPr marT="45725" marB="45725" marR="91450" marL="91450"/>
                </a:tc>
                <a:tc>
                  <a:txBody>
                    <a:bodyPr/>
                    <a:lstStyle/>
                    <a:p>
                      <a:pPr indent="0" lvl="0" marL="0" marR="0" rtl="0" algn="ctr">
                        <a:spcBef>
                          <a:spcPts val="0"/>
                        </a:spcBef>
                        <a:spcAft>
                          <a:spcPts val="0"/>
                        </a:spcAft>
                        <a:buNone/>
                      </a:pPr>
                      <a:r>
                        <a:rPr lang="en-US" sz="2800" u="none" cap="none" strike="noStrike"/>
                        <a:t>Research Problem</a:t>
                      </a:r>
                      <a:endParaRPr/>
                    </a:p>
                  </a:txBody>
                  <a:tcPr marT="45725" marB="45725" marR="91450" marL="91450"/>
                </a:tc>
                <a:tc>
                  <a:txBody>
                    <a:bodyPr/>
                    <a:lstStyle/>
                    <a:p>
                      <a:pPr indent="0" lvl="0" marL="0" marR="0" rtl="0" algn="ctr">
                        <a:spcBef>
                          <a:spcPts val="0"/>
                        </a:spcBef>
                        <a:spcAft>
                          <a:spcPts val="0"/>
                        </a:spcAft>
                        <a:buNone/>
                      </a:pPr>
                      <a:r>
                        <a:rPr lang="en-US" sz="2800" u="none" cap="none" strike="noStrike"/>
                        <a:t>Research Questions</a:t>
                      </a:r>
                      <a:endParaRPr/>
                    </a:p>
                  </a:txBody>
                  <a:tcPr marT="45725" marB="45725" marR="91450" marL="91450"/>
                </a:tc>
              </a:tr>
              <a:tr h="370850">
                <a:tc rowSpan="5">
                  <a:txBody>
                    <a:bodyPr/>
                    <a:lstStyle/>
                    <a:p>
                      <a:pPr indent="0" lvl="0" marL="0" marR="0" rtl="0" algn="l">
                        <a:spcBef>
                          <a:spcPts val="0"/>
                        </a:spcBef>
                        <a:spcAft>
                          <a:spcPts val="0"/>
                        </a:spcAft>
                        <a:buNone/>
                      </a:pPr>
                      <a:r>
                        <a:rPr lang="en-US" sz="1600" u="none" cap="none" strike="noStrike"/>
                        <a:t>Most digital faculty evaluation systems merely automate paper-based surveys without strengthening authentication, data integrity, or analytical depth. Qualitative feedback is often collected but not processed using AI-driven summarization or sentiment analysis, limiting actionable insights. Additionally, few studies comprehensively evaluate such systems using international standards like </a:t>
                      </a:r>
                      <a:r>
                        <a:rPr b="1" lang="en-US" sz="1600" u="none" cap="none" strike="noStrike"/>
                        <a:t>ISO/IEC 25010</a:t>
                      </a:r>
                      <a:r>
                        <a:rPr lang="en-US" sz="1600" u="none" cap="none" strike="noStrike"/>
                        <a:t>. There is also limited empirical evidence on the cost–benefit impact of AI-enhanced evaluation systems in CHED-regulated institutions.</a:t>
                      </a:r>
                      <a:endParaRPr/>
                    </a:p>
                  </a:txBody>
                  <a:tcPr marT="45725" marB="45725" marR="91450" marL="91450" anchor="ctr"/>
                </a:tc>
                <a:tc rowSpan="5">
                  <a:txBody>
                    <a:bodyPr/>
                    <a:lstStyle/>
                    <a:p>
                      <a:pPr indent="0" lvl="0" marL="0" marR="0" rtl="0" algn="l">
                        <a:spcBef>
                          <a:spcPts val="0"/>
                        </a:spcBef>
                        <a:spcAft>
                          <a:spcPts val="0"/>
                        </a:spcAft>
                        <a:buNone/>
                      </a:pPr>
                      <a:r>
                        <a:rPr lang="en-US" sz="1600"/>
                        <a:t>Current faculty evaluation systems in many higher education institutions remain limited in terms of security, analytical capability, and standards-based quality assessment. The absence of robust authentication mechanisms and structured AI-driven analysis compromises data reliability and reduces the value of qualitative feedback. Additionally, many systems are not systematically evaluated using internationally recognized frameworks such as </a:t>
                      </a:r>
                      <a:r>
                        <a:rPr b="1" lang="en-US" sz="1600"/>
                        <a:t>ISO/IEC 25010</a:t>
                      </a:r>
                      <a:r>
                        <a:rPr lang="en-US" sz="1600"/>
                        <a:t>, resulting in gaps in technical validation. Consequently, institutions face challenges in ensuring secure, efficient, and evidence-based faculty performance assessment.</a:t>
                      </a:r>
                      <a:endParaRPr/>
                    </a:p>
                  </a:txBody>
                  <a:tcPr marT="45725" marB="45725" marR="91450" marL="91450"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RQ1: </a:t>
                      </a:r>
                      <a:r>
                        <a:rPr lang="en-US" sz="1800"/>
                        <a:t>What is the relationship between evaluator authentication mechanisms and the perceived reliability of faculty evaluation results?</a:t>
                      </a:r>
                      <a:endParaRPr sz="1800">
                        <a:solidFill>
                          <a:schemeClr val="dk1"/>
                        </a:solidFill>
                        <a:latin typeface="Calibri"/>
                        <a:ea typeface="Calibri"/>
                        <a:cs typeface="Calibri"/>
                        <a:sym typeface="Calibri"/>
                      </a:endParaRPr>
                    </a:p>
                  </a:txBody>
                  <a:tcPr marT="45725" marB="45725" marR="91450" marL="91450"/>
                </a:tc>
              </a:tr>
              <a:tr h="370850">
                <a:tc vMerge="1"/>
                <a:tc vMerge="1"/>
                <a:tc>
                  <a:txBody>
                    <a:bodyPr/>
                    <a:lstStyle/>
                    <a:p>
                      <a:pPr indent="0" lvl="0" marL="0" marR="0" rtl="0" algn="l">
                        <a:lnSpc>
                          <a:spcPct val="100000"/>
                        </a:lnSpc>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RQ2: </a:t>
                      </a:r>
                      <a:r>
                        <a:rPr lang="en-US" sz="1800"/>
                        <a:t>How does the use of AI-driven summarization and sentiment analysis influence the interpretability and usefulness of qualitative faculty feedback?</a:t>
                      </a:r>
                      <a:endParaRPr/>
                    </a:p>
                  </a:txBody>
                  <a:tcPr marT="45725" marB="45725" marR="91450" marL="91450"/>
                </a:tc>
              </a:tr>
              <a:tr h="370850">
                <a:tc vMerge="1"/>
                <a:tc vMerge="1"/>
                <a:tc>
                  <a:txBody>
                    <a:bodyPr/>
                    <a:lstStyle/>
                    <a:p>
                      <a:pPr indent="0" lvl="0" marL="0" marR="0" rtl="0" algn="l">
                        <a:lnSpc>
                          <a:spcPct val="100000"/>
                        </a:lnSpc>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RQ3: </a:t>
                      </a:r>
                      <a:r>
                        <a:rPr lang="en-US" sz="1800"/>
                        <a:t>To what extent do faculty evaluation systems comply with international software quality standards such as </a:t>
                      </a:r>
                      <a:r>
                        <a:rPr b="1" lang="en-US" sz="1800"/>
                        <a:t>ISO/IEC 25010</a:t>
                      </a:r>
                      <a:r>
                        <a:rPr lang="en-US" sz="1800"/>
                        <a:t>, and how does this compliance affect overall system effectiveness?</a:t>
                      </a:r>
                      <a:endParaRPr/>
                    </a:p>
                  </a:txBody>
                  <a:tcPr marT="45725" marB="45725" marR="91450" marL="91450"/>
                </a:tc>
              </a:tr>
              <a:tr h="370850">
                <a:tc vMerge="1"/>
                <a:tc vMerge="1"/>
                <a:tc>
                  <a:txBody>
                    <a:bodyPr/>
                    <a:lstStyle/>
                    <a:p>
                      <a:pPr indent="0" lvl="0" marL="0" marR="0" rtl="0" algn="l">
                        <a:lnSpc>
                          <a:spcPct val="100000"/>
                        </a:lnSpc>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RQ4: </a:t>
                      </a:r>
                      <a:r>
                        <a:rPr lang="en-US" sz="1800"/>
                        <a:t>What factors significantly influence user satisfaction, trust, and acceptance of AI-enhanced faculty evaluation systems in higher education institutions?</a:t>
                      </a:r>
                      <a:endParaRPr/>
                    </a:p>
                  </a:txBody>
                  <a:tcPr marT="45725" marB="45725" marR="91450" marL="91450"/>
                </a:tc>
              </a:tr>
              <a:tr h="370850">
                <a:tc vMerge="1"/>
                <a:tc vMerge="1"/>
                <a:tc>
                  <a:txBody>
                    <a:bodyPr/>
                    <a:lstStyle/>
                    <a:p>
                      <a:pPr indent="0" lvl="0" marL="0" marR="0" rtl="0" algn="l">
                        <a:lnSpc>
                          <a:spcPct val="100000"/>
                        </a:lnSpc>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RQ5: </a:t>
                      </a:r>
                      <a:r>
                        <a:rPr lang="en-US" sz="1800"/>
                        <a:t>What suggestions and recommendations do students, faculty members, and administrators provide to improve the security, analytical features, usability, and overall effectiveness of AI-enhanced faculty evaluation systems?</a:t>
                      </a:r>
                      <a:endParaRPr/>
                    </a:p>
                  </a:txBody>
                  <a:tcPr marT="45725" marB="45725" marR="91450" marL="91450"/>
                </a:tc>
              </a:tr>
            </a:tbl>
          </a:graphicData>
        </a:graphic>
      </p:graphicFrame>
      <p:sp>
        <p:nvSpPr>
          <p:cNvPr id="95" name="Google Shape;95;p2"/>
          <p:cNvSpPr txBox="1"/>
          <p:nvPr/>
        </p:nvSpPr>
        <p:spPr>
          <a:xfrm>
            <a:off x="-327675" y="-279025"/>
            <a:ext cx="12192000" cy="6123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National Aviation Academy of the Philippines</a:t>
            </a:r>
            <a:br>
              <a:rPr b="0" i="0" lang="en-US" sz="2000" u="none" cap="none" strike="noStrike">
                <a:solidFill>
                  <a:schemeClr val="dk1"/>
                </a:solidFill>
                <a:latin typeface="Calibri"/>
                <a:ea typeface="Calibri"/>
                <a:cs typeface="Calibri"/>
                <a:sym typeface="Calibri"/>
              </a:rPr>
            </a:br>
            <a:r>
              <a:rPr b="1" i="0" lang="en-US" sz="2000" u="none" cap="none" strike="noStrike">
                <a:solidFill>
                  <a:schemeClr val="dk1"/>
                </a:solidFill>
                <a:latin typeface="Calibri"/>
                <a:ea typeface="Calibri"/>
                <a:cs typeface="Calibri"/>
                <a:sym typeface="Calibri"/>
              </a:rPr>
              <a:t>Institute of Computer Studies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234045" y="716189"/>
            <a:ext cx="10515600" cy="8105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1 : Project Context</a:t>
            </a:r>
            <a:endParaRPr/>
          </a:p>
        </p:txBody>
      </p:sp>
      <p:sp>
        <p:nvSpPr>
          <p:cNvPr id="101" name="Google Shape;101;p3"/>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
        <p:nvSpPr>
          <p:cNvPr id="102" name="Google Shape;10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Existing System</a:t>
            </a:r>
            <a:endParaRPr/>
          </a:p>
          <a:p>
            <a:pPr indent="-228600" lvl="1" marL="685800" rtl="0" algn="l">
              <a:lnSpc>
                <a:spcPct val="90000"/>
              </a:lnSpc>
              <a:spcBef>
                <a:spcPts val="500"/>
              </a:spcBef>
              <a:spcAft>
                <a:spcPts val="0"/>
              </a:spcAft>
              <a:buClr>
                <a:schemeClr val="dk1"/>
              </a:buClr>
              <a:buSzPct val="100000"/>
              <a:buChar char="•"/>
            </a:pPr>
            <a:r>
              <a:rPr lang="en-US"/>
              <a:t>Manual and basic online forms used for faculty evaluation</a:t>
            </a:r>
            <a:endParaRPr/>
          </a:p>
          <a:p>
            <a:pPr indent="-228600" lvl="1" marL="685800" rtl="0" algn="l">
              <a:lnSpc>
                <a:spcPct val="90000"/>
              </a:lnSpc>
              <a:spcBef>
                <a:spcPts val="500"/>
              </a:spcBef>
              <a:spcAft>
                <a:spcPts val="0"/>
              </a:spcAft>
              <a:buClr>
                <a:schemeClr val="dk1"/>
              </a:buClr>
              <a:buSzPct val="100000"/>
              <a:buChar char="•"/>
            </a:pPr>
            <a:r>
              <a:rPr lang="en-US"/>
              <a:t>Limited identity validation and manual report consolidation</a:t>
            </a:r>
            <a:endParaRPr/>
          </a:p>
          <a:p>
            <a:pPr indent="-228600" lvl="1" marL="685800" rtl="0" algn="l">
              <a:lnSpc>
                <a:spcPct val="90000"/>
              </a:lnSpc>
              <a:spcBef>
                <a:spcPts val="500"/>
              </a:spcBef>
              <a:spcAft>
                <a:spcPts val="0"/>
              </a:spcAft>
              <a:buClr>
                <a:schemeClr val="dk1"/>
              </a:buClr>
              <a:buSzPct val="100000"/>
              <a:buChar char="•"/>
            </a:pPr>
            <a:r>
              <a:rPr lang="en-US"/>
              <a:t>No structured AI analysis or formal quality assessment</a:t>
            </a:r>
            <a:endParaRPr/>
          </a:p>
          <a:p>
            <a:pPr indent="-228600" lvl="0" marL="228600" rtl="0" algn="l">
              <a:lnSpc>
                <a:spcPct val="90000"/>
              </a:lnSpc>
              <a:spcBef>
                <a:spcPts val="1000"/>
              </a:spcBef>
              <a:spcAft>
                <a:spcPts val="0"/>
              </a:spcAft>
              <a:buClr>
                <a:schemeClr val="dk1"/>
              </a:buClr>
              <a:buSzPct val="100000"/>
              <a:buChar char="•"/>
            </a:pPr>
            <a:r>
              <a:rPr b="1" lang="en-US"/>
              <a:t>Gaps and Risks</a:t>
            </a:r>
            <a:endParaRPr/>
          </a:p>
          <a:p>
            <a:pPr indent="-228600" lvl="1" marL="685800" rtl="0" algn="l">
              <a:lnSpc>
                <a:spcPct val="90000"/>
              </a:lnSpc>
              <a:spcBef>
                <a:spcPts val="500"/>
              </a:spcBef>
              <a:spcAft>
                <a:spcPts val="0"/>
              </a:spcAft>
              <a:buClr>
                <a:schemeClr val="dk1"/>
              </a:buClr>
              <a:buSzPct val="100000"/>
              <a:buChar char="•"/>
            </a:pPr>
            <a:r>
              <a:rPr lang="en-US"/>
              <a:t>Risk of unreliable or unauthorized submissions</a:t>
            </a:r>
            <a:endParaRPr/>
          </a:p>
          <a:p>
            <a:pPr indent="-228600" lvl="1" marL="685800" rtl="0" algn="l">
              <a:lnSpc>
                <a:spcPct val="90000"/>
              </a:lnSpc>
              <a:spcBef>
                <a:spcPts val="500"/>
              </a:spcBef>
              <a:spcAft>
                <a:spcPts val="0"/>
              </a:spcAft>
              <a:buClr>
                <a:schemeClr val="dk1"/>
              </a:buClr>
              <a:buSzPct val="100000"/>
              <a:buChar char="•"/>
            </a:pPr>
            <a:r>
              <a:rPr lang="en-US"/>
              <a:t>Underutilized qualitative feedback</a:t>
            </a:r>
            <a:endParaRPr/>
          </a:p>
          <a:p>
            <a:pPr indent="-228600" lvl="1" marL="685800" rtl="0" algn="l">
              <a:lnSpc>
                <a:spcPct val="90000"/>
              </a:lnSpc>
              <a:spcBef>
                <a:spcPts val="500"/>
              </a:spcBef>
              <a:spcAft>
                <a:spcPts val="0"/>
              </a:spcAft>
              <a:buClr>
                <a:schemeClr val="dk1"/>
              </a:buClr>
              <a:buSzPct val="100000"/>
              <a:buChar char="•"/>
            </a:pPr>
            <a:r>
              <a:rPr lang="en-US"/>
              <a:t>No compliance evaluation with </a:t>
            </a:r>
            <a:r>
              <a:rPr b="1" lang="en-US"/>
              <a:t>ISO/IEC 25010</a:t>
            </a:r>
            <a:endParaRPr/>
          </a:p>
          <a:p>
            <a:pPr indent="-228600" lvl="0" marL="228600" rtl="0" algn="l">
              <a:lnSpc>
                <a:spcPct val="90000"/>
              </a:lnSpc>
              <a:spcBef>
                <a:spcPts val="1000"/>
              </a:spcBef>
              <a:spcAft>
                <a:spcPts val="0"/>
              </a:spcAft>
              <a:buClr>
                <a:schemeClr val="dk1"/>
              </a:buClr>
              <a:buSzPct val="100000"/>
              <a:buChar char="•"/>
            </a:pPr>
            <a:r>
              <a:rPr b="1" lang="en-US"/>
              <a:t>Need for Innovation and Standard</a:t>
            </a:r>
            <a:endParaRPr/>
          </a:p>
          <a:p>
            <a:pPr indent="-228600" lvl="1" marL="685800" rtl="0" algn="l">
              <a:lnSpc>
                <a:spcPct val="90000"/>
              </a:lnSpc>
              <a:spcBef>
                <a:spcPts val="500"/>
              </a:spcBef>
              <a:spcAft>
                <a:spcPts val="0"/>
              </a:spcAft>
              <a:buClr>
                <a:schemeClr val="dk1"/>
              </a:buClr>
              <a:buSzPct val="100000"/>
              <a:buChar char="•"/>
            </a:pPr>
            <a:r>
              <a:rPr lang="en-US"/>
              <a:t>Secure authentication and AI-driven analytics</a:t>
            </a:r>
            <a:endParaRPr/>
          </a:p>
          <a:p>
            <a:pPr indent="-228600" lvl="1" marL="685800" rtl="0" algn="l">
              <a:lnSpc>
                <a:spcPct val="90000"/>
              </a:lnSpc>
              <a:spcBef>
                <a:spcPts val="500"/>
              </a:spcBef>
              <a:spcAft>
                <a:spcPts val="0"/>
              </a:spcAft>
              <a:buClr>
                <a:schemeClr val="dk1"/>
              </a:buClr>
              <a:buSzPct val="100000"/>
              <a:buChar char="•"/>
            </a:pPr>
            <a:r>
              <a:rPr lang="en-US"/>
              <a:t>ISO-aligned quality evaluation framework</a:t>
            </a:r>
            <a:endParaRPr/>
          </a:p>
          <a:p>
            <a:pPr indent="-228600" lvl="1" marL="685800" rtl="0" algn="l">
              <a:lnSpc>
                <a:spcPct val="90000"/>
              </a:lnSpc>
              <a:spcBef>
                <a:spcPts val="500"/>
              </a:spcBef>
              <a:spcAft>
                <a:spcPts val="0"/>
              </a:spcAft>
              <a:buClr>
                <a:schemeClr val="dk1"/>
              </a:buClr>
              <a:buSzPct val="100000"/>
              <a:buChar char="•"/>
            </a:pPr>
            <a:r>
              <a:rPr lang="en-US"/>
              <a:t>Efficient, data-driven, and sustainable evaluation system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234045" y="716189"/>
            <a:ext cx="10515600" cy="8105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1 : Purpose and Description</a:t>
            </a:r>
            <a:endParaRPr/>
          </a:p>
        </p:txBody>
      </p:sp>
      <p:sp>
        <p:nvSpPr>
          <p:cNvPr id="108" name="Google Shape;108;p4"/>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
        <p:nvSpPr>
          <p:cNvPr id="109" name="Google Shape;10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Project Purpose</a:t>
            </a:r>
            <a:endParaRPr/>
          </a:p>
          <a:p>
            <a:pPr indent="-228600" lvl="1" marL="685800" rtl="0" algn="l">
              <a:lnSpc>
                <a:spcPct val="90000"/>
              </a:lnSpc>
              <a:spcBef>
                <a:spcPts val="500"/>
              </a:spcBef>
              <a:spcAft>
                <a:spcPts val="0"/>
              </a:spcAft>
              <a:buClr>
                <a:schemeClr val="dk1"/>
              </a:buClr>
              <a:buSzPct val="100000"/>
              <a:buChar char="•"/>
            </a:pPr>
            <a:r>
              <a:rPr lang="en-US"/>
              <a:t>To evaluate and examine an AI-enhanced faculty evaluation system that improves security, analytical capability, and standards-based quality compliance in higher education.</a:t>
            </a:r>
            <a:endParaRPr/>
          </a:p>
          <a:p>
            <a:pPr indent="-228600" lvl="0" marL="228600" rtl="0" algn="l">
              <a:lnSpc>
                <a:spcPct val="90000"/>
              </a:lnSpc>
              <a:spcBef>
                <a:spcPts val="1000"/>
              </a:spcBef>
              <a:spcAft>
                <a:spcPts val="0"/>
              </a:spcAft>
              <a:buClr>
                <a:schemeClr val="dk1"/>
              </a:buClr>
              <a:buSzPct val="100000"/>
              <a:buChar char="•"/>
            </a:pPr>
            <a:r>
              <a:rPr b="1" lang="en-US"/>
              <a:t>System Components</a:t>
            </a:r>
            <a:endParaRPr/>
          </a:p>
          <a:p>
            <a:pPr indent="-228600" lvl="1" marL="685800" rtl="0" algn="l">
              <a:lnSpc>
                <a:spcPct val="90000"/>
              </a:lnSpc>
              <a:spcBef>
                <a:spcPts val="500"/>
              </a:spcBef>
              <a:spcAft>
                <a:spcPts val="0"/>
              </a:spcAft>
              <a:buClr>
                <a:schemeClr val="dk1"/>
              </a:buClr>
              <a:buSzPct val="100000"/>
              <a:buChar char="•"/>
            </a:pPr>
            <a:r>
              <a:rPr lang="en-US"/>
              <a:t>Secure enrollment-based authentication</a:t>
            </a:r>
            <a:endParaRPr/>
          </a:p>
          <a:p>
            <a:pPr indent="-228600" lvl="1" marL="685800" rtl="0" algn="l">
              <a:lnSpc>
                <a:spcPct val="90000"/>
              </a:lnSpc>
              <a:spcBef>
                <a:spcPts val="500"/>
              </a:spcBef>
              <a:spcAft>
                <a:spcPts val="0"/>
              </a:spcAft>
              <a:buClr>
                <a:schemeClr val="dk1"/>
              </a:buClr>
              <a:buSzPct val="100000"/>
              <a:buChar char="•"/>
            </a:pPr>
            <a:r>
              <a:rPr lang="en-US"/>
              <a:t>AI-driven summarization and sentiment analysis</a:t>
            </a:r>
            <a:endParaRPr/>
          </a:p>
          <a:p>
            <a:pPr indent="-228600" lvl="1" marL="685800" rtl="0" algn="l">
              <a:lnSpc>
                <a:spcPct val="90000"/>
              </a:lnSpc>
              <a:spcBef>
                <a:spcPts val="500"/>
              </a:spcBef>
              <a:spcAft>
                <a:spcPts val="0"/>
              </a:spcAft>
              <a:buClr>
                <a:schemeClr val="dk1"/>
              </a:buClr>
              <a:buSzPct val="100000"/>
              <a:buChar char="•"/>
            </a:pPr>
            <a:r>
              <a:rPr lang="en-US"/>
              <a:t>Automated reporting and analytics dashboard</a:t>
            </a:r>
            <a:endParaRPr/>
          </a:p>
          <a:p>
            <a:pPr indent="-228600" lvl="1" marL="685800" rtl="0" algn="l">
              <a:lnSpc>
                <a:spcPct val="90000"/>
              </a:lnSpc>
              <a:spcBef>
                <a:spcPts val="500"/>
              </a:spcBef>
              <a:spcAft>
                <a:spcPts val="0"/>
              </a:spcAft>
              <a:buClr>
                <a:schemeClr val="dk1"/>
              </a:buClr>
              <a:buSzPct val="100000"/>
              <a:buChar char="•"/>
            </a:pPr>
            <a:r>
              <a:rPr lang="en-US"/>
              <a:t>Quality evaluation aligned with </a:t>
            </a:r>
            <a:r>
              <a:rPr b="1" lang="en-US"/>
              <a:t>ISO/IEC 25010</a:t>
            </a:r>
            <a:endParaRPr/>
          </a:p>
          <a:p>
            <a:pPr indent="-228600" lvl="0" marL="228600" rtl="0" algn="l">
              <a:lnSpc>
                <a:spcPct val="90000"/>
              </a:lnSpc>
              <a:spcBef>
                <a:spcPts val="1000"/>
              </a:spcBef>
              <a:spcAft>
                <a:spcPts val="0"/>
              </a:spcAft>
              <a:buClr>
                <a:schemeClr val="dk1"/>
              </a:buClr>
              <a:buSzPct val="100000"/>
              <a:buChar char="•"/>
            </a:pPr>
            <a:r>
              <a:rPr b="1" lang="en-US"/>
              <a:t>Expected Benefits</a:t>
            </a:r>
            <a:endParaRPr/>
          </a:p>
          <a:p>
            <a:pPr indent="-228600" lvl="1" marL="685800" rtl="0" algn="l">
              <a:lnSpc>
                <a:spcPct val="90000"/>
              </a:lnSpc>
              <a:spcBef>
                <a:spcPts val="500"/>
              </a:spcBef>
              <a:spcAft>
                <a:spcPts val="0"/>
              </a:spcAft>
              <a:buClr>
                <a:schemeClr val="dk1"/>
              </a:buClr>
              <a:buSzPct val="100000"/>
              <a:buChar char="•"/>
            </a:pPr>
            <a:r>
              <a:rPr lang="en-US"/>
              <a:t>Improved data reliability and evaluation integrity</a:t>
            </a:r>
            <a:endParaRPr/>
          </a:p>
          <a:p>
            <a:pPr indent="-228600" lvl="1" marL="685800" rtl="0" algn="l">
              <a:lnSpc>
                <a:spcPct val="90000"/>
              </a:lnSpc>
              <a:spcBef>
                <a:spcPts val="500"/>
              </a:spcBef>
              <a:spcAft>
                <a:spcPts val="0"/>
              </a:spcAft>
              <a:buClr>
                <a:schemeClr val="dk1"/>
              </a:buClr>
              <a:buSzPct val="100000"/>
              <a:buChar char="•"/>
            </a:pPr>
            <a:r>
              <a:rPr lang="en-US"/>
              <a:t>Actionable insights from qualitative feedback</a:t>
            </a:r>
            <a:endParaRPr/>
          </a:p>
          <a:p>
            <a:pPr indent="-228600" lvl="1" marL="685800" rtl="0" algn="l">
              <a:lnSpc>
                <a:spcPct val="90000"/>
              </a:lnSpc>
              <a:spcBef>
                <a:spcPts val="500"/>
              </a:spcBef>
              <a:spcAft>
                <a:spcPts val="0"/>
              </a:spcAft>
              <a:buClr>
                <a:schemeClr val="dk1"/>
              </a:buClr>
              <a:buSzPct val="100000"/>
              <a:buChar char="•"/>
            </a:pPr>
            <a:r>
              <a:rPr lang="en-US"/>
              <a:t>Enhanced usability, efficiency, and decision-making support</a:t>
            </a:r>
            <a:endParaRPr/>
          </a:p>
          <a:p>
            <a:pPr indent="-228600" lvl="1" marL="685800" rtl="0" algn="l">
              <a:lnSpc>
                <a:spcPct val="90000"/>
              </a:lnSpc>
              <a:spcBef>
                <a:spcPts val="500"/>
              </a:spcBef>
              <a:spcAft>
                <a:spcPts val="0"/>
              </a:spcAft>
              <a:buClr>
                <a:schemeClr val="dk1"/>
              </a:buClr>
              <a:buSzPct val="100000"/>
              <a:buChar char="•"/>
            </a:pPr>
            <a:r>
              <a:rPr lang="en-US"/>
              <a:t>Evidence-based recommendations for institutional improvement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234045" y="716189"/>
            <a:ext cx="10515600" cy="8105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1 : Contextual Diagram</a:t>
            </a:r>
            <a:endParaRPr/>
          </a:p>
        </p:txBody>
      </p:sp>
      <p:sp>
        <p:nvSpPr>
          <p:cNvPr id="115" name="Google Shape;115;p5"/>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pic>
        <p:nvPicPr>
          <p:cNvPr id="116" name="Google Shape;116;p5"/>
          <p:cNvPicPr preferRelativeResize="0"/>
          <p:nvPr>
            <p:ph idx="1" type="body"/>
          </p:nvPr>
        </p:nvPicPr>
        <p:blipFill rotWithShape="1">
          <a:blip r:embed="rId3">
            <a:alphaModFix/>
          </a:blip>
          <a:srcRect b="0" l="0" r="0" t="0"/>
          <a:stretch/>
        </p:blipFill>
        <p:spPr>
          <a:xfrm>
            <a:off x="2155372" y="1825624"/>
            <a:ext cx="7192736" cy="47951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ph type="title"/>
          </p:nvPr>
        </p:nvSpPr>
        <p:spPr>
          <a:xfrm>
            <a:off x="234045" y="716189"/>
            <a:ext cx="10515600" cy="8105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1 : Objectives</a:t>
            </a:r>
            <a:endParaRPr/>
          </a:p>
        </p:txBody>
      </p:sp>
      <p:sp>
        <p:nvSpPr>
          <p:cNvPr id="122" name="Google Shape;122;p6"/>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National Aviation Academy of the Philippines</a:t>
            </a:r>
            <a:br>
              <a:rPr b="0" i="0" lang="en-US" sz="2000" u="none" cap="none" strike="noStrike">
                <a:solidFill>
                  <a:schemeClr val="dk1"/>
                </a:solidFill>
                <a:latin typeface="Calibri"/>
                <a:ea typeface="Calibri"/>
                <a:cs typeface="Calibri"/>
                <a:sym typeface="Calibri"/>
              </a:rPr>
            </a:br>
            <a:r>
              <a:rPr b="1" i="0" lang="en-US" sz="2000" u="none" cap="none" strike="noStrike">
                <a:solidFill>
                  <a:schemeClr val="dk1"/>
                </a:solidFill>
                <a:latin typeface="Calibri"/>
                <a:ea typeface="Calibri"/>
                <a:cs typeface="Calibri"/>
                <a:sym typeface="Calibri"/>
              </a:rPr>
              <a:t>Institute of Computer Studies</a:t>
            </a:r>
            <a:endParaRPr/>
          </a:p>
        </p:txBody>
      </p:sp>
      <p:graphicFrame>
        <p:nvGraphicFramePr>
          <p:cNvPr id="123" name="Google Shape;123;p6"/>
          <p:cNvGraphicFramePr/>
          <p:nvPr/>
        </p:nvGraphicFramePr>
        <p:xfrm>
          <a:off x="772885" y="2316480"/>
          <a:ext cx="3000000" cy="3000000"/>
        </p:xfrm>
        <a:graphic>
          <a:graphicData uri="http://schemas.openxmlformats.org/drawingml/2006/table">
            <a:tbl>
              <a:tblPr bandRow="1" firstRow="1">
                <a:noFill/>
                <a:tableStyleId>{3BAC4E9A-D7AF-4B5B-B466-96A7120604E6}</a:tableStyleId>
              </a:tblPr>
              <a:tblGrid>
                <a:gridCol w="1162050"/>
                <a:gridCol w="9353550"/>
              </a:tblGrid>
              <a:tr h="370850">
                <a:tc>
                  <a:txBody>
                    <a:bodyPr/>
                    <a:lstStyle/>
                    <a:p>
                      <a:pPr indent="0" lvl="0" marL="0" marR="0" rtl="0" algn="l">
                        <a:spcBef>
                          <a:spcPts val="0"/>
                        </a:spcBef>
                        <a:spcAft>
                          <a:spcPts val="0"/>
                        </a:spcAft>
                        <a:buNone/>
                      </a:pPr>
                      <a:r>
                        <a:rPr lang="en-US" sz="1800"/>
                        <a:t>Research Questions</a:t>
                      </a:r>
                      <a:endParaRPr/>
                    </a:p>
                  </a:txBody>
                  <a:tcPr marT="45725" marB="45725" marR="91450" marL="91450"/>
                </a:tc>
                <a:tc>
                  <a:txBody>
                    <a:bodyPr/>
                    <a:lstStyle/>
                    <a:p>
                      <a:pPr indent="0" lvl="0" marL="0" marR="0" rtl="0" algn="l">
                        <a:spcBef>
                          <a:spcPts val="0"/>
                        </a:spcBef>
                        <a:spcAft>
                          <a:spcPts val="0"/>
                        </a:spcAft>
                        <a:buNone/>
                      </a:pPr>
                      <a:r>
                        <a:rPr lang="en-US" sz="1800"/>
                        <a:t>Research Objectives</a:t>
                      </a:r>
                      <a:endParaRPr/>
                    </a:p>
                  </a:txBody>
                  <a:tcPr marT="45725" marB="45725" marR="91450" marL="91450"/>
                </a:tc>
              </a:tr>
              <a:tr h="370850">
                <a:tc>
                  <a:txBody>
                    <a:bodyPr/>
                    <a:lstStyle/>
                    <a:p>
                      <a:pPr indent="0" lvl="0" marL="0" marR="0" rtl="0" algn="l">
                        <a:spcBef>
                          <a:spcPts val="0"/>
                        </a:spcBef>
                        <a:spcAft>
                          <a:spcPts val="0"/>
                        </a:spcAft>
                        <a:buNone/>
                      </a:pPr>
                      <a:r>
                        <a:rPr lang="en-US" sz="1800"/>
                        <a:t>RQ1</a:t>
                      </a:r>
                      <a:endParaRPr/>
                    </a:p>
                  </a:txBody>
                  <a:tcPr marT="45725" marB="45725" marR="91450" marL="91450"/>
                </a:tc>
                <a:tc>
                  <a:txBody>
                    <a:bodyPr/>
                    <a:lstStyle/>
                    <a:p>
                      <a:pPr indent="0" lvl="0" marL="0" marR="0" rtl="0" algn="l">
                        <a:spcBef>
                          <a:spcPts val="0"/>
                        </a:spcBef>
                        <a:spcAft>
                          <a:spcPts val="0"/>
                        </a:spcAft>
                        <a:buNone/>
                      </a:pPr>
                      <a:r>
                        <a:rPr lang="en-US" sz="1800"/>
                        <a:t> To determine the relationship between evaluator authentication mechanisms and the perceived reliability of faculty evaluation results.</a:t>
                      </a:r>
                      <a:endParaRPr/>
                    </a:p>
                  </a:txBody>
                  <a:tcPr marT="45725" marB="45725" marR="91450" marL="91450"/>
                </a:tc>
              </a:tr>
              <a:tr h="370850">
                <a:tc>
                  <a:txBody>
                    <a:bodyPr/>
                    <a:lstStyle/>
                    <a:p>
                      <a:pPr indent="0" lvl="0" marL="0" marR="0" rtl="0" algn="l">
                        <a:spcBef>
                          <a:spcPts val="0"/>
                        </a:spcBef>
                        <a:spcAft>
                          <a:spcPts val="0"/>
                        </a:spcAft>
                        <a:buNone/>
                      </a:pPr>
                      <a:r>
                        <a:rPr lang="en-US" sz="1800"/>
                        <a:t>RQ2</a:t>
                      </a:r>
                      <a:endParaRPr/>
                    </a:p>
                  </a:txBody>
                  <a:tcPr marT="45725" marB="45725" marR="91450" marL="91450"/>
                </a:tc>
                <a:tc>
                  <a:txBody>
                    <a:bodyPr/>
                    <a:lstStyle/>
                    <a:p>
                      <a:pPr indent="0" lvl="0" marL="0" marR="0" rtl="0" algn="l">
                        <a:spcBef>
                          <a:spcPts val="0"/>
                        </a:spcBef>
                        <a:spcAft>
                          <a:spcPts val="0"/>
                        </a:spcAft>
                        <a:buNone/>
                      </a:pPr>
                      <a:r>
                        <a:rPr lang="en-US" sz="1800"/>
                        <a:t>To assess how AI-driven summarization and sentiment analysis influence the interpretability and usefulness of qualitative feedback.</a:t>
                      </a:r>
                      <a:endParaRPr/>
                    </a:p>
                  </a:txBody>
                  <a:tcPr marT="45725" marB="45725" marR="91450" marL="91450"/>
                </a:tc>
              </a:tr>
              <a:tr h="370850">
                <a:tc>
                  <a:txBody>
                    <a:bodyPr/>
                    <a:lstStyle/>
                    <a:p>
                      <a:pPr indent="0" lvl="0" marL="0" marR="0" rtl="0" algn="l">
                        <a:spcBef>
                          <a:spcPts val="0"/>
                        </a:spcBef>
                        <a:spcAft>
                          <a:spcPts val="0"/>
                        </a:spcAft>
                        <a:buNone/>
                      </a:pPr>
                      <a:r>
                        <a:rPr lang="en-US" sz="1800"/>
                        <a:t>RQ3</a:t>
                      </a:r>
                      <a:endParaRPr/>
                    </a:p>
                  </a:txBody>
                  <a:tcPr marT="45725" marB="45725" marR="91450" marL="91450"/>
                </a:tc>
                <a:tc>
                  <a:txBody>
                    <a:bodyPr/>
                    <a:lstStyle/>
                    <a:p>
                      <a:pPr indent="0" lvl="0" marL="0" marR="0" rtl="0" algn="l">
                        <a:spcBef>
                          <a:spcPts val="0"/>
                        </a:spcBef>
                        <a:spcAft>
                          <a:spcPts val="0"/>
                        </a:spcAft>
                        <a:buNone/>
                      </a:pPr>
                      <a:r>
                        <a:rPr lang="en-US" sz="1800"/>
                        <a:t>To evaluate the extent of compliance of faculty evaluation systems with </a:t>
                      </a:r>
                      <a:r>
                        <a:rPr b="1" lang="en-US" sz="1800"/>
                        <a:t>ISO/IEC 25010</a:t>
                      </a:r>
                      <a:r>
                        <a:rPr lang="en-US" sz="1800"/>
                        <a:t> characteristics and its effect on overall system effectiveness.</a:t>
                      </a:r>
                      <a:endParaRPr/>
                    </a:p>
                  </a:txBody>
                  <a:tcPr marT="45725" marB="45725" marR="91450" marL="91450"/>
                </a:tc>
              </a:tr>
              <a:tr h="370850">
                <a:tc>
                  <a:txBody>
                    <a:bodyPr/>
                    <a:lstStyle/>
                    <a:p>
                      <a:pPr indent="0" lvl="0" marL="0" marR="0" rtl="0" algn="l">
                        <a:spcBef>
                          <a:spcPts val="0"/>
                        </a:spcBef>
                        <a:spcAft>
                          <a:spcPts val="0"/>
                        </a:spcAft>
                        <a:buNone/>
                      </a:pPr>
                      <a:r>
                        <a:rPr lang="en-US" sz="1800"/>
                        <a:t>RQ4</a:t>
                      </a:r>
                      <a:endParaRPr/>
                    </a:p>
                  </a:txBody>
                  <a:tcPr marT="45725" marB="45725" marR="91450" marL="91450"/>
                </a:tc>
                <a:tc>
                  <a:txBody>
                    <a:bodyPr/>
                    <a:lstStyle/>
                    <a:p>
                      <a:pPr indent="0" lvl="0" marL="0" marR="0" rtl="0" algn="l">
                        <a:spcBef>
                          <a:spcPts val="0"/>
                        </a:spcBef>
                        <a:spcAft>
                          <a:spcPts val="0"/>
                        </a:spcAft>
                        <a:buNone/>
                      </a:pPr>
                      <a:r>
                        <a:rPr lang="en-US" sz="1800"/>
                        <a:t>To identify the factors influencing user satisfaction, trust, and acceptance among students, faculty, and administrators.</a:t>
                      </a:r>
                      <a:endParaRPr/>
                    </a:p>
                  </a:txBody>
                  <a:tcPr marT="45725" marB="45725" marR="91450" marL="91450"/>
                </a:tc>
              </a:tr>
              <a:tr h="370850">
                <a:tc>
                  <a:txBody>
                    <a:bodyPr/>
                    <a:lstStyle/>
                    <a:p>
                      <a:pPr indent="0" lvl="0" marL="0" marR="0" rtl="0" algn="l">
                        <a:spcBef>
                          <a:spcPts val="0"/>
                        </a:spcBef>
                        <a:spcAft>
                          <a:spcPts val="0"/>
                        </a:spcAft>
                        <a:buNone/>
                      </a:pPr>
                      <a:r>
                        <a:rPr lang="en-US" sz="1800"/>
                        <a:t>RQ5</a:t>
                      </a:r>
                      <a:endParaRPr/>
                    </a:p>
                  </a:txBody>
                  <a:tcPr marT="45725" marB="45725" marR="91450" marL="91450"/>
                </a:tc>
                <a:tc>
                  <a:txBody>
                    <a:bodyPr/>
                    <a:lstStyle/>
                    <a:p>
                      <a:pPr indent="0" lvl="0" marL="0" marR="0" rtl="0" algn="l">
                        <a:spcBef>
                          <a:spcPts val="0"/>
                        </a:spcBef>
                        <a:spcAft>
                          <a:spcPts val="0"/>
                        </a:spcAft>
                        <a:buNone/>
                      </a:pPr>
                      <a:r>
                        <a:rPr lang="en-US" sz="1800"/>
                        <a:t>To gather respondent-based suggestions and recommendations for improving the security, usability, analytical capability, and sustainability of AI-enhanced faculty evaluation systems.</a:t>
                      </a:r>
                      <a:endParaRPr/>
                    </a:p>
                  </a:txBody>
                  <a:tcPr marT="45725" marB="45725" marR="91450" marL="91450"/>
                </a:tc>
              </a:tr>
            </a:tbl>
          </a:graphicData>
        </a:graphic>
      </p:graphicFrame>
      <p:sp>
        <p:nvSpPr>
          <p:cNvPr id="124" name="Google Shape;124;p6"/>
          <p:cNvSpPr txBox="1"/>
          <p:nvPr/>
        </p:nvSpPr>
        <p:spPr>
          <a:xfrm>
            <a:off x="873579" y="1402080"/>
            <a:ext cx="1041490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General Objective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 empirically examine the security, analytical capability, software quality compliance, usability, and overall effectiveness of AI-enhanced faculty evaluation systems in higher education institutions.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1: Scope and Limitations</a:t>
            </a:r>
            <a:endParaRPr/>
          </a:p>
        </p:txBody>
      </p:sp>
      <p:sp>
        <p:nvSpPr>
          <p:cNvPr id="130" name="Google Shape;130;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Scope</a:t>
            </a:r>
            <a:endParaRPr/>
          </a:p>
          <a:p>
            <a:pPr indent="-228600" lvl="1" marL="685800" rtl="0" algn="l">
              <a:lnSpc>
                <a:spcPct val="90000"/>
              </a:lnSpc>
              <a:spcBef>
                <a:spcPts val="500"/>
              </a:spcBef>
              <a:spcAft>
                <a:spcPts val="0"/>
              </a:spcAft>
              <a:buClr>
                <a:schemeClr val="dk1"/>
              </a:buClr>
              <a:buSzPts val="2400"/>
              <a:buChar char="•"/>
            </a:pPr>
            <a:r>
              <a:rPr lang="en-US"/>
              <a:t>Examines AI-enhanced faculty evaluation systems in a higher education context</a:t>
            </a:r>
            <a:endParaRPr/>
          </a:p>
          <a:p>
            <a:pPr indent="-228600" lvl="1" marL="685800" rtl="0" algn="l">
              <a:lnSpc>
                <a:spcPct val="90000"/>
              </a:lnSpc>
              <a:spcBef>
                <a:spcPts val="500"/>
              </a:spcBef>
              <a:spcAft>
                <a:spcPts val="0"/>
              </a:spcAft>
              <a:buClr>
                <a:schemeClr val="dk1"/>
              </a:buClr>
              <a:buSzPts val="2400"/>
              <a:buChar char="•"/>
            </a:pPr>
            <a:r>
              <a:rPr lang="en-US"/>
              <a:t>Focuses on security, AI-driven qualitative analysis, usability, and ISO-aligned quality compliance</a:t>
            </a:r>
            <a:endParaRPr/>
          </a:p>
          <a:p>
            <a:pPr indent="-228600" lvl="1" marL="685800" rtl="0" algn="l">
              <a:lnSpc>
                <a:spcPct val="90000"/>
              </a:lnSpc>
              <a:spcBef>
                <a:spcPts val="500"/>
              </a:spcBef>
              <a:spcAft>
                <a:spcPts val="0"/>
              </a:spcAft>
              <a:buClr>
                <a:schemeClr val="dk1"/>
              </a:buClr>
              <a:buSzPts val="2400"/>
              <a:buChar char="•"/>
            </a:pPr>
            <a:r>
              <a:rPr lang="en-US"/>
              <a:t>Includes students, faculty, and administrators as respondents</a:t>
            </a:r>
            <a:endParaRPr/>
          </a:p>
          <a:p>
            <a:pPr indent="-228600" lvl="1" marL="685800" rtl="0" algn="l">
              <a:lnSpc>
                <a:spcPct val="90000"/>
              </a:lnSpc>
              <a:spcBef>
                <a:spcPts val="500"/>
              </a:spcBef>
              <a:spcAft>
                <a:spcPts val="0"/>
              </a:spcAft>
              <a:buClr>
                <a:schemeClr val="dk1"/>
              </a:buClr>
              <a:buSzPts val="2400"/>
              <a:buChar char="•"/>
            </a:pPr>
            <a:r>
              <a:rPr lang="en-US"/>
              <a:t>Uses survey-based evaluation and selected ISO/IEC 25010 characteristics</a:t>
            </a:r>
            <a:endParaRPr/>
          </a:p>
          <a:p>
            <a:pPr indent="-228600" lvl="0" marL="228600" rtl="0" algn="l">
              <a:lnSpc>
                <a:spcPct val="90000"/>
              </a:lnSpc>
              <a:spcBef>
                <a:spcPts val="1000"/>
              </a:spcBef>
              <a:spcAft>
                <a:spcPts val="0"/>
              </a:spcAft>
              <a:buClr>
                <a:schemeClr val="dk1"/>
              </a:buClr>
              <a:buSzPts val="2800"/>
              <a:buChar char="•"/>
            </a:pPr>
            <a:r>
              <a:rPr b="1" lang="en-US"/>
              <a:t>Limitations</a:t>
            </a:r>
            <a:endParaRPr/>
          </a:p>
          <a:p>
            <a:pPr indent="-228600" lvl="1" marL="685800" rtl="0" algn="l">
              <a:lnSpc>
                <a:spcPct val="90000"/>
              </a:lnSpc>
              <a:spcBef>
                <a:spcPts val="500"/>
              </a:spcBef>
              <a:spcAft>
                <a:spcPts val="0"/>
              </a:spcAft>
              <a:buClr>
                <a:schemeClr val="dk1"/>
              </a:buClr>
              <a:buSzPts val="2400"/>
              <a:buChar char="•"/>
            </a:pPr>
            <a:r>
              <a:rPr lang="en-US"/>
              <a:t>Limited to one institution and one evaluation period</a:t>
            </a:r>
            <a:endParaRPr/>
          </a:p>
          <a:p>
            <a:pPr indent="-228600" lvl="1" marL="685800" rtl="0" algn="l">
              <a:lnSpc>
                <a:spcPct val="90000"/>
              </a:lnSpc>
              <a:spcBef>
                <a:spcPts val="500"/>
              </a:spcBef>
              <a:spcAft>
                <a:spcPts val="0"/>
              </a:spcAft>
              <a:buClr>
                <a:schemeClr val="dk1"/>
              </a:buClr>
              <a:buSzPts val="2400"/>
              <a:buChar char="•"/>
            </a:pPr>
            <a:r>
              <a:rPr lang="en-US"/>
              <a:t>Focuses only on faculty evaluation (excludes other assessment systems)</a:t>
            </a:r>
            <a:endParaRPr/>
          </a:p>
          <a:p>
            <a:pPr indent="-228600" lvl="1" marL="685800" rtl="0" algn="l">
              <a:lnSpc>
                <a:spcPct val="90000"/>
              </a:lnSpc>
              <a:spcBef>
                <a:spcPts val="500"/>
              </a:spcBef>
              <a:spcAft>
                <a:spcPts val="0"/>
              </a:spcAft>
              <a:buClr>
                <a:schemeClr val="dk1"/>
              </a:buClr>
              <a:buSzPts val="2400"/>
              <a:buChar char="•"/>
            </a:pPr>
            <a:r>
              <a:rPr lang="en-US"/>
              <a:t>AI analysis confined to summarization and sentiment detection</a:t>
            </a:r>
            <a:endParaRPr/>
          </a:p>
          <a:p>
            <a:pPr indent="-228600" lvl="1" marL="685800" rtl="0" algn="l">
              <a:lnSpc>
                <a:spcPct val="90000"/>
              </a:lnSpc>
              <a:spcBef>
                <a:spcPts val="500"/>
              </a:spcBef>
              <a:spcAft>
                <a:spcPts val="0"/>
              </a:spcAft>
              <a:buClr>
                <a:schemeClr val="dk1"/>
              </a:buClr>
              <a:buSzPts val="2400"/>
              <a:buChar char="•"/>
            </a:pPr>
            <a:r>
              <a:rPr lang="en-US"/>
              <a:t>Cost–benefit findings based on short-term data</a:t>
            </a:r>
            <a:endParaRPr/>
          </a:p>
        </p:txBody>
      </p:sp>
      <p:sp>
        <p:nvSpPr>
          <p:cNvPr id="131" name="Google Shape;131;p7"/>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National Aviation Academy of the Philippines</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Institute of Computer Studies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2: Review of Related Literature</a:t>
            </a:r>
            <a:endParaRPr/>
          </a:p>
        </p:txBody>
      </p:sp>
      <p:sp>
        <p:nvSpPr>
          <p:cNvPr id="137" name="Google Shape;13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Security, AI Analytics, and Software Quality</a:t>
            </a:r>
            <a:endParaRPr/>
          </a:p>
          <a:p>
            <a:pPr indent="-228600" lvl="1" marL="685800" rtl="0" algn="l">
              <a:lnSpc>
                <a:spcPct val="90000"/>
              </a:lnSpc>
              <a:spcBef>
                <a:spcPts val="500"/>
              </a:spcBef>
              <a:spcAft>
                <a:spcPts val="0"/>
              </a:spcAft>
              <a:buClr>
                <a:schemeClr val="dk1"/>
              </a:buClr>
              <a:buSzPts val="2400"/>
              <a:buChar char="•"/>
            </a:pPr>
            <a:r>
              <a:rPr b="1" lang="en-US"/>
              <a:t>1. Authentication and Data Integrity</a:t>
            </a:r>
            <a:endParaRPr/>
          </a:p>
          <a:p>
            <a:pPr indent="-228600" lvl="2" marL="1143000" rtl="0" algn="l">
              <a:lnSpc>
                <a:spcPct val="90000"/>
              </a:lnSpc>
              <a:spcBef>
                <a:spcPts val="500"/>
              </a:spcBef>
              <a:spcAft>
                <a:spcPts val="0"/>
              </a:spcAft>
              <a:buClr>
                <a:schemeClr val="dk1"/>
              </a:buClr>
              <a:buSzPts val="2000"/>
              <a:buChar char="•"/>
            </a:pPr>
            <a:r>
              <a:rPr lang="en-US"/>
              <a:t>Secure authentication improves trust and reliability of information systems [1].</a:t>
            </a:r>
            <a:endParaRPr/>
          </a:p>
          <a:p>
            <a:pPr indent="-228600" lvl="2" marL="1143000" rtl="0" algn="l">
              <a:lnSpc>
                <a:spcPct val="90000"/>
              </a:lnSpc>
              <a:spcBef>
                <a:spcPts val="500"/>
              </a:spcBef>
              <a:spcAft>
                <a:spcPts val="0"/>
              </a:spcAft>
              <a:buClr>
                <a:schemeClr val="dk1"/>
              </a:buClr>
              <a:buSzPts val="2000"/>
              <a:buChar char="•"/>
            </a:pPr>
            <a:r>
              <a:rPr lang="en-US"/>
              <a:t>System success depends on information quality and system integrity [2].</a:t>
            </a:r>
            <a:endParaRPr/>
          </a:p>
          <a:p>
            <a:pPr indent="-228600" lvl="1" marL="685800" rtl="0" algn="l">
              <a:lnSpc>
                <a:spcPct val="90000"/>
              </a:lnSpc>
              <a:spcBef>
                <a:spcPts val="500"/>
              </a:spcBef>
              <a:spcAft>
                <a:spcPts val="0"/>
              </a:spcAft>
              <a:buClr>
                <a:schemeClr val="dk1"/>
              </a:buClr>
              <a:buSzPts val="2400"/>
              <a:buChar char="•"/>
            </a:pPr>
            <a:r>
              <a:rPr b="1" lang="en-US"/>
              <a:t>2. AI-Driven Qualitative Feedback Analysis</a:t>
            </a:r>
            <a:endParaRPr/>
          </a:p>
          <a:p>
            <a:pPr indent="-228600" lvl="2" marL="1143000" rtl="0" algn="l">
              <a:lnSpc>
                <a:spcPct val="90000"/>
              </a:lnSpc>
              <a:spcBef>
                <a:spcPts val="500"/>
              </a:spcBef>
              <a:spcAft>
                <a:spcPts val="0"/>
              </a:spcAft>
              <a:buClr>
                <a:schemeClr val="dk1"/>
              </a:buClr>
              <a:buSzPts val="2000"/>
              <a:buChar char="•"/>
            </a:pPr>
            <a:r>
              <a:rPr lang="en-US"/>
              <a:t>Sentiment analysis enhances interpretation of textual feedback [3].</a:t>
            </a:r>
            <a:endParaRPr/>
          </a:p>
          <a:p>
            <a:pPr indent="-228600" lvl="2" marL="1143000" rtl="0" algn="l">
              <a:lnSpc>
                <a:spcPct val="90000"/>
              </a:lnSpc>
              <a:spcBef>
                <a:spcPts val="500"/>
              </a:spcBef>
              <a:spcAft>
                <a:spcPts val="0"/>
              </a:spcAft>
              <a:buClr>
                <a:schemeClr val="dk1"/>
              </a:buClr>
              <a:buSzPts val="2000"/>
              <a:buChar char="•"/>
            </a:pPr>
            <a:r>
              <a:rPr lang="en-US"/>
              <a:t>NLP-based summarization improves decision-support efficiency [4].</a:t>
            </a:r>
            <a:endParaRPr/>
          </a:p>
          <a:p>
            <a:pPr indent="-228600" lvl="1" marL="685800" rtl="0" algn="l">
              <a:lnSpc>
                <a:spcPct val="90000"/>
              </a:lnSpc>
              <a:spcBef>
                <a:spcPts val="500"/>
              </a:spcBef>
              <a:spcAft>
                <a:spcPts val="0"/>
              </a:spcAft>
              <a:buClr>
                <a:schemeClr val="dk1"/>
              </a:buClr>
              <a:buSzPts val="2400"/>
              <a:buChar char="•"/>
            </a:pPr>
            <a:r>
              <a:rPr b="1" lang="en-US"/>
              <a:t>3. Software Quality Standards</a:t>
            </a:r>
            <a:endParaRPr/>
          </a:p>
          <a:p>
            <a:pPr indent="-228600" lvl="2" marL="1143000" rtl="0" algn="l">
              <a:lnSpc>
                <a:spcPct val="90000"/>
              </a:lnSpc>
              <a:spcBef>
                <a:spcPts val="500"/>
              </a:spcBef>
              <a:spcAft>
                <a:spcPts val="0"/>
              </a:spcAft>
              <a:buClr>
                <a:schemeClr val="dk1"/>
              </a:buClr>
              <a:buSzPts val="2000"/>
              <a:buChar char="•"/>
            </a:pPr>
            <a:r>
              <a:rPr b="1" lang="en-US"/>
              <a:t>ISO/IEC 25010</a:t>
            </a:r>
            <a:r>
              <a:rPr lang="en-US"/>
              <a:t> defines functional suitability, reliability, security, usability, and performance efficiency [5].</a:t>
            </a:r>
            <a:endParaRPr/>
          </a:p>
        </p:txBody>
      </p:sp>
      <p:sp>
        <p:nvSpPr>
          <p:cNvPr id="138" name="Google Shape;138;p8"/>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2: Review of Related Literature</a:t>
            </a:r>
            <a:endParaRPr/>
          </a:p>
        </p:txBody>
      </p:sp>
      <p:sp>
        <p:nvSpPr>
          <p:cNvPr id="144" name="Google Shape;14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Usability, Acceptance, and Institutional Value</a:t>
            </a:r>
            <a:endParaRPr/>
          </a:p>
          <a:p>
            <a:pPr indent="0" lvl="1" marL="457200" rtl="0" algn="l">
              <a:lnSpc>
                <a:spcPct val="90000"/>
              </a:lnSpc>
              <a:spcBef>
                <a:spcPts val="500"/>
              </a:spcBef>
              <a:spcAft>
                <a:spcPts val="0"/>
              </a:spcAft>
              <a:buClr>
                <a:schemeClr val="dk1"/>
              </a:buClr>
              <a:buSzPts val="2400"/>
              <a:buNone/>
            </a:pPr>
            <a:r>
              <a:rPr b="1" lang="en-US"/>
              <a:t>4. Usability and User Satisfaction</a:t>
            </a:r>
            <a:endParaRPr/>
          </a:p>
          <a:p>
            <a:pPr indent="-228600" lvl="2" marL="1143000" rtl="0" algn="l">
              <a:lnSpc>
                <a:spcPct val="90000"/>
              </a:lnSpc>
              <a:spcBef>
                <a:spcPts val="500"/>
              </a:spcBef>
              <a:spcAft>
                <a:spcPts val="0"/>
              </a:spcAft>
              <a:buClr>
                <a:schemeClr val="dk1"/>
              </a:buClr>
              <a:buSzPts val="2000"/>
              <a:buChar char="•"/>
            </a:pPr>
            <a:r>
              <a:rPr lang="en-US"/>
              <a:t>Perceived usefulness and ease of use influence system adoption [6].</a:t>
            </a:r>
            <a:endParaRPr/>
          </a:p>
          <a:p>
            <a:pPr indent="-228600" lvl="2" marL="1143000" rtl="0" algn="l">
              <a:lnSpc>
                <a:spcPct val="90000"/>
              </a:lnSpc>
              <a:spcBef>
                <a:spcPts val="500"/>
              </a:spcBef>
              <a:spcAft>
                <a:spcPts val="0"/>
              </a:spcAft>
              <a:buClr>
                <a:schemeClr val="dk1"/>
              </a:buClr>
              <a:buSzPts val="2000"/>
              <a:buChar char="•"/>
            </a:pPr>
            <a:r>
              <a:rPr lang="en-US"/>
              <a:t>User satisfaction is a key determinant of IS success [2].</a:t>
            </a:r>
            <a:endParaRPr/>
          </a:p>
          <a:p>
            <a:pPr indent="0" lvl="1" marL="457200" rtl="0" algn="l">
              <a:lnSpc>
                <a:spcPct val="90000"/>
              </a:lnSpc>
              <a:spcBef>
                <a:spcPts val="500"/>
              </a:spcBef>
              <a:spcAft>
                <a:spcPts val="0"/>
              </a:spcAft>
              <a:buClr>
                <a:schemeClr val="dk1"/>
              </a:buClr>
              <a:buSzPts val="2400"/>
              <a:buNone/>
            </a:pPr>
            <a:r>
              <a:rPr b="1" lang="en-US"/>
              <a:t>5. Technology Acceptance and Trust</a:t>
            </a:r>
            <a:endParaRPr/>
          </a:p>
          <a:p>
            <a:pPr indent="-228600" lvl="2" marL="1143000" rtl="0" algn="l">
              <a:lnSpc>
                <a:spcPct val="90000"/>
              </a:lnSpc>
              <a:spcBef>
                <a:spcPts val="500"/>
              </a:spcBef>
              <a:spcAft>
                <a:spcPts val="0"/>
              </a:spcAft>
              <a:buClr>
                <a:schemeClr val="dk1"/>
              </a:buClr>
              <a:buSzPts val="2000"/>
              <a:buChar char="•"/>
            </a:pPr>
            <a:r>
              <a:rPr lang="en-US"/>
              <a:t>Trust and perceived reliability significantly affect acceptance of digital systems [7].</a:t>
            </a:r>
            <a:endParaRPr/>
          </a:p>
          <a:p>
            <a:pPr indent="0" lvl="1" marL="457200" rtl="0" algn="l">
              <a:lnSpc>
                <a:spcPct val="90000"/>
              </a:lnSpc>
              <a:spcBef>
                <a:spcPts val="500"/>
              </a:spcBef>
              <a:spcAft>
                <a:spcPts val="0"/>
              </a:spcAft>
              <a:buClr>
                <a:schemeClr val="dk1"/>
              </a:buClr>
              <a:buSzPts val="2400"/>
              <a:buNone/>
            </a:pPr>
            <a:r>
              <a:rPr b="1" lang="en-US"/>
              <a:t>6. Cost–Benefit and Sustainability</a:t>
            </a:r>
            <a:endParaRPr/>
          </a:p>
          <a:p>
            <a:pPr indent="-228600" lvl="2" marL="1143000" rtl="0" algn="l">
              <a:lnSpc>
                <a:spcPct val="90000"/>
              </a:lnSpc>
              <a:spcBef>
                <a:spcPts val="500"/>
              </a:spcBef>
              <a:spcAft>
                <a:spcPts val="0"/>
              </a:spcAft>
              <a:buClr>
                <a:schemeClr val="dk1"/>
              </a:buClr>
              <a:buSzPts val="2000"/>
              <a:buChar char="•"/>
            </a:pPr>
            <a:r>
              <a:rPr lang="en-US"/>
              <a:t>Information systems generate organizational value when aligned with performance and efficiency metrics [8].</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5" name="Google Shape;145;p9"/>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51" name="Google Shape;15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Research &amp; Development Methodology</a:t>
            </a:r>
            <a:endParaRPr/>
          </a:p>
          <a:p>
            <a:pPr indent="-228600" lvl="0" marL="228600" rtl="0" algn="l">
              <a:lnSpc>
                <a:spcPct val="90000"/>
              </a:lnSpc>
              <a:spcBef>
                <a:spcPts val="1000"/>
              </a:spcBef>
              <a:spcAft>
                <a:spcPts val="0"/>
              </a:spcAft>
              <a:buClr>
                <a:schemeClr val="dk1"/>
              </a:buClr>
              <a:buSzPts val="2800"/>
              <a:buChar char="•"/>
            </a:pPr>
            <a:r>
              <a:rPr b="1" lang="en-US"/>
              <a:t>Methodology Overview</a:t>
            </a:r>
            <a:endParaRPr/>
          </a:p>
          <a:p>
            <a:pPr indent="-228600" lvl="1" marL="685800" rtl="0" algn="l">
              <a:lnSpc>
                <a:spcPct val="90000"/>
              </a:lnSpc>
              <a:spcBef>
                <a:spcPts val="500"/>
              </a:spcBef>
              <a:spcAft>
                <a:spcPts val="0"/>
              </a:spcAft>
              <a:buClr>
                <a:schemeClr val="dk1"/>
              </a:buClr>
              <a:buSzPts val="2400"/>
              <a:buChar char="•"/>
            </a:pPr>
            <a:r>
              <a:rPr lang="en-US"/>
              <a:t>Adopted </a:t>
            </a:r>
            <a:r>
              <a:rPr b="1" lang="en-US"/>
              <a:t>Agile (Scrum-inspired) SDLC</a:t>
            </a:r>
            <a:endParaRPr/>
          </a:p>
          <a:p>
            <a:pPr indent="-228600" lvl="1" marL="685800" rtl="0" algn="l">
              <a:lnSpc>
                <a:spcPct val="90000"/>
              </a:lnSpc>
              <a:spcBef>
                <a:spcPts val="500"/>
              </a:spcBef>
              <a:spcAft>
                <a:spcPts val="0"/>
              </a:spcAft>
              <a:buClr>
                <a:schemeClr val="dk1"/>
              </a:buClr>
              <a:buSzPts val="2400"/>
              <a:buChar char="•"/>
            </a:pPr>
            <a:r>
              <a:rPr lang="en-US"/>
              <a:t>Iterative development with stakeholder feedback</a:t>
            </a:r>
            <a:endParaRPr/>
          </a:p>
          <a:p>
            <a:pPr indent="-228600" lvl="1" marL="685800" rtl="0" algn="l">
              <a:lnSpc>
                <a:spcPct val="90000"/>
              </a:lnSpc>
              <a:spcBef>
                <a:spcPts val="500"/>
              </a:spcBef>
              <a:spcAft>
                <a:spcPts val="0"/>
              </a:spcAft>
              <a:buClr>
                <a:schemeClr val="dk1"/>
              </a:buClr>
              <a:buSzPts val="2400"/>
              <a:buChar char="•"/>
            </a:pPr>
            <a:r>
              <a:rPr lang="en-US"/>
              <a:t>Ensures adaptability to CHED policies and institutional changes</a:t>
            </a:r>
            <a:endParaRPr/>
          </a:p>
          <a:p>
            <a:pPr indent="-228600" lvl="0" marL="228600" rtl="0" algn="l">
              <a:lnSpc>
                <a:spcPct val="90000"/>
              </a:lnSpc>
              <a:spcBef>
                <a:spcPts val="1000"/>
              </a:spcBef>
              <a:spcAft>
                <a:spcPts val="0"/>
              </a:spcAft>
              <a:buClr>
                <a:schemeClr val="dk1"/>
              </a:buClr>
              <a:buSzPts val="2800"/>
              <a:buChar char="•"/>
            </a:pPr>
            <a:r>
              <a:rPr b="1" lang="en-US"/>
              <a:t>Agile Phases</a:t>
            </a:r>
            <a:endParaRPr/>
          </a:p>
          <a:p>
            <a:pPr indent="-228600" lvl="1" marL="685800" rtl="0" algn="l">
              <a:lnSpc>
                <a:spcPct val="90000"/>
              </a:lnSpc>
              <a:spcBef>
                <a:spcPts val="500"/>
              </a:spcBef>
              <a:spcAft>
                <a:spcPts val="0"/>
              </a:spcAft>
              <a:buClr>
                <a:schemeClr val="dk1"/>
              </a:buClr>
              <a:buSzPts val="2400"/>
              <a:buFont typeface="Calibri"/>
              <a:buAutoNum type="arabicPeriod"/>
            </a:pPr>
            <a:r>
              <a:rPr lang="en-US"/>
              <a:t>Requirements Analysis &amp; Planning</a:t>
            </a:r>
            <a:endParaRPr/>
          </a:p>
          <a:p>
            <a:pPr indent="-228600" lvl="1" marL="685800" rtl="0" algn="l">
              <a:lnSpc>
                <a:spcPct val="90000"/>
              </a:lnSpc>
              <a:spcBef>
                <a:spcPts val="500"/>
              </a:spcBef>
              <a:spcAft>
                <a:spcPts val="0"/>
              </a:spcAft>
              <a:buClr>
                <a:schemeClr val="dk1"/>
              </a:buClr>
              <a:buSzPts val="2400"/>
              <a:buFont typeface="Calibri"/>
              <a:buAutoNum type="arabicPeriod"/>
            </a:pPr>
            <a:r>
              <a:rPr lang="en-US"/>
              <a:t>System Design</a:t>
            </a:r>
            <a:endParaRPr/>
          </a:p>
          <a:p>
            <a:pPr indent="-228600" lvl="1" marL="685800" rtl="0" algn="l">
              <a:lnSpc>
                <a:spcPct val="90000"/>
              </a:lnSpc>
              <a:spcBef>
                <a:spcPts val="500"/>
              </a:spcBef>
              <a:spcAft>
                <a:spcPts val="0"/>
              </a:spcAft>
              <a:buClr>
                <a:schemeClr val="dk1"/>
              </a:buClr>
              <a:buSzPts val="2400"/>
              <a:buFont typeface="Calibri"/>
              <a:buAutoNum type="arabicPeriod"/>
            </a:pPr>
            <a:r>
              <a:rPr lang="en-US"/>
              <a:t>Development &amp; Implementation</a:t>
            </a:r>
            <a:endParaRPr/>
          </a:p>
          <a:p>
            <a:pPr indent="-228600" lvl="1" marL="685800" rtl="0" algn="l">
              <a:lnSpc>
                <a:spcPct val="90000"/>
              </a:lnSpc>
              <a:spcBef>
                <a:spcPts val="500"/>
              </a:spcBef>
              <a:spcAft>
                <a:spcPts val="0"/>
              </a:spcAft>
              <a:buClr>
                <a:schemeClr val="dk1"/>
              </a:buClr>
              <a:buSzPts val="2400"/>
              <a:buFont typeface="Calibri"/>
              <a:buAutoNum type="arabicPeriod"/>
            </a:pPr>
            <a:r>
              <a:rPr lang="en-US"/>
              <a:t>Testing &amp; Evaluation</a:t>
            </a:r>
            <a:endParaRPr/>
          </a:p>
          <a:p>
            <a:pPr indent="-228600" lvl="1" marL="685800" rtl="0" algn="l">
              <a:lnSpc>
                <a:spcPct val="90000"/>
              </a:lnSpc>
              <a:spcBef>
                <a:spcPts val="500"/>
              </a:spcBef>
              <a:spcAft>
                <a:spcPts val="0"/>
              </a:spcAft>
              <a:buClr>
                <a:schemeClr val="dk1"/>
              </a:buClr>
              <a:buSzPts val="2400"/>
              <a:buFont typeface="Calibri"/>
              <a:buAutoNum type="arabicPeriod"/>
            </a:pPr>
            <a:r>
              <a:rPr lang="en-US"/>
              <a:t>Deployment &amp; Maintenance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2" name="Google Shape;152;p10"/>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58" name="Google Shape;158;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Analysis of Existing System &amp; Gap</a:t>
            </a:r>
            <a:endParaRPr/>
          </a:p>
          <a:p>
            <a:pPr indent="-228600" lvl="0" marL="228600" rtl="0" algn="l">
              <a:lnSpc>
                <a:spcPct val="90000"/>
              </a:lnSpc>
              <a:spcBef>
                <a:spcPts val="1000"/>
              </a:spcBef>
              <a:spcAft>
                <a:spcPts val="0"/>
              </a:spcAft>
              <a:buClr>
                <a:schemeClr val="dk1"/>
              </a:buClr>
              <a:buSzPts val="2800"/>
              <a:buChar char="•"/>
            </a:pPr>
            <a:r>
              <a:rPr b="1" lang="en-US"/>
              <a:t>Current System</a:t>
            </a:r>
            <a:endParaRPr/>
          </a:p>
          <a:p>
            <a:pPr indent="-228600" lvl="1" marL="685800" rtl="0" algn="l">
              <a:lnSpc>
                <a:spcPct val="90000"/>
              </a:lnSpc>
              <a:spcBef>
                <a:spcPts val="500"/>
              </a:spcBef>
              <a:spcAft>
                <a:spcPts val="0"/>
              </a:spcAft>
              <a:buClr>
                <a:schemeClr val="dk1"/>
              </a:buClr>
              <a:buSzPts val="2400"/>
              <a:buChar char="•"/>
            </a:pPr>
            <a:r>
              <a:rPr lang="en-US"/>
              <a:t>Manual and semi-digital evaluation (external survey tools)</a:t>
            </a:r>
            <a:endParaRPr/>
          </a:p>
          <a:p>
            <a:pPr indent="-228600" lvl="1" marL="685800" rtl="0" algn="l">
              <a:lnSpc>
                <a:spcPct val="90000"/>
              </a:lnSpc>
              <a:spcBef>
                <a:spcPts val="500"/>
              </a:spcBef>
              <a:spcAft>
                <a:spcPts val="0"/>
              </a:spcAft>
              <a:buClr>
                <a:schemeClr val="dk1"/>
              </a:buClr>
              <a:buSzPts val="2400"/>
              <a:buChar char="•"/>
            </a:pPr>
            <a:r>
              <a:rPr lang="en-US"/>
              <a:t>Manual consolidation and clearance verification</a:t>
            </a:r>
            <a:endParaRPr/>
          </a:p>
          <a:p>
            <a:pPr indent="-228600" lvl="1" marL="685800" rtl="0" algn="l">
              <a:lnSpc>
                <a:spcPct val="90000"/>
              </a:lnSpc>
              <a:spcBef>
                <a:spcPts val="500"/>
              </a:spcBef>
              <a:spcAft>
                <a:spcPts val="0"/>
              </a:spcAft>
              <a:buClr>
                <a:schemeClr val="dk1"/>
              </a:buClr>
              <a:buSzPts val="2400"/>
              <a:buChar char="•"/>
            </a:pPr>
            <a:r>
              <a:rPr lang="en-US"/>
              <a:t>No AI-based qualitative analysis</a:t>
            </a:r>
            <a:endParaRPr/>
          </a:p>
          <a:p>
            <a:pPr indent="-228600" lvl="1" marL="685800" rtl="0" algn="l">
              <a:lnSpc>
                <a:spcPct val="90000"/>
              </a:lnSpc>
              <a:spcBef>
                <a:spcPts val="500"/>
              </a:spcBef>
              <a:spcAft>
                <a:spcPts val="0"/>
              </a:spcAft>
              <a:buClr>
                <a:schemeClr val="dk1"/>
              </a:buClr>
              <a:buSzPts val="2400"/>
              <a:buChar char="•"/>
            </a:pPr>
            <a:r>
              <a:rPr lang="en-US"/>
              <a:t>Limited system integration</a:t>
            </a:r>
            <a:endParaRPr/>
          </a:p>
          <a:p>
            <a:pPr indent="-228600" lvl="0" marL="228600" rtl="0" algn="l">
              <a:lnSpc>
                <a:spcPct val="90000"/>
              </a:lnSpc>
              <a:spcBef>
                <a:spcPts val="1000"/>
              </a:spcBef>
              <a:spcAft>
                <a:spcPts val="0"/>
              </a:spcAft>
              <a:buClr>
                <a:schemeClr val="dk1"/>
              </a:buClr>
              <a:buSzPts val="2800"/>
              <a:buChar char="•"/>
            </a:pPr>
            <a:r>
              <a:rPr b="1" lang="en-US"/>
              <a:t>Identified Gaps</a:t>
            </a:r>
            <a:endParaRPr/>
          </a:p>
          <a:p>
            <a:pPr indent="-228600" lvl="1" marL="685800" rtl="0" algn="l">
              <a:lnSpc>
                <a:spcPct val="90000"/>
              </a:lnSpc>
              <a:spcBef>
                <a:spcPts val="500"/>
              </a:spcBef>
              <a:spcAft>
                <a:spcPts val="0"/>
              </a:spcAft>
              <a:buClr>
                <a:schemeClr val="dk1"/>
              </a:buClr>
              <a:buSzPts val="2400"/>
              <a:buChar char="•"/>
            </a:pPr>
            <a:r>
              <a:rPr lang="en-US"/>
              <a:t>Risk of duplicate/unauthorized submissions</a:t>
            </a:r>
            <a:endParaRPr/>
          </a:p>
          <a:p>
            <a:pPr indent="-228600" lvl="1" marL="685800" rtl="0" algn="l">
              <a:lnSpc>
                <a:spcPct val="90000"/>
              </a:lnSpc>
              <a:spcBef>
                <a:spcPts val="500"/>
              </a:spcBef>
              <a:spcAft>
                <a:spcPts val="0"/>
              </a:spcAft>
              <a:buClr>
                <a:schemeClr val="dk1"/>
              </a:buClr>
              <a:buSzPts val="2400"/>
              <a:buChar char="•"/>
            </a:pPr>
            <a:r>
              <a:rPr lang="en-US"/>
              <a:t>Administrative workload and delays</a:t>
            </a:r>
            <a:endParaRPr/>
          </a:p>
          <a:p>
            <a:pPr indent="-228600" lvl="1" marL="685800" rtl="0" algn="l">
              <a:lnSpc>
                <a:spcPct val="90000"/>
              </a:lnSpc>
              <a:spcBef>
                <a:spcPts val="500"/>
              </a:spcBef>
              <a:spcAft>
                <a:spcPts val="0"/>
              </a:spcAft>
              <a:buClr>
                <a:schemeClr val="dk1"/>
              </a:buClr>
              <a:buSzPts val="2400"/>
              <a:buChar char="•"/>
            </a:pPr>
            <a:r>
              <a:rPr lang="en-US"/>
              <a:t>Decentralized data storage</a:t>
            </a:r>
            <a:endParaRPr/>
          </a:p>
          <a:p>
            <a:pPr indent="-228600" lvl="1" marL="685800" rtl="0" algn="l">
              <a:lnSpc>
                <a:spcPct val="90000"/>
              </a:lnSpc>
              <a:spcBef>
                <a:spcPts val="500"/>
              </a:spcBef>
              <a:spcAft>
                <a:spcPts val="0"/>
              </a:spcAft>
              <a:buClr>
                <a:schemeClr val="dk1"/>
              </a:buClr>
              <a:buSzPts val="2400"/>
              <a:buChar char="•"/>
            </a:pPr>
            <a:r>
              <a:rPr lang="en-US"/>
              <a:t>No automated qualitative feedback processing</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9" name="Google Shape;159;p11"/>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65" name="Google Shape;16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Proposed System Architecture</a:t>
            </a:r>
            <a:endParaRPr/>
          </a:p>
          <a:p>
            <a:pPr indent="-228600" lvl="0" marL="228600" rtl="0" algn="l">
              <a:lnSpc>
                <a:spcPct val="90000"/>
              </a:lnSpc>
              <a:spcBef>
                <a:spcPts val="1000"/>
              </a:spcBef>
              <a:spcAft>
                <a:spcPts val="0"/>
              </a:spcAft>
              <a:buClr>
                <a:schemeClr val="dk1"/>
              </a:buClr>
              <a:buSzPct val="100000"/>
              <a:buChar char="•"/>
            </a:pPr>
            <a:r>
              <a:rPr b="1" lang="en-US"/>
              <a:t>Architecture Type</a:t>
            </a:r>
            <a:endParaRPr/>
          </a:p>
          <a:p>
            <a:pPr indent="-228600" lvl="1" marL="685800" rtl="0" algn="l">
              <a:lnSpc>
                <a:spcPct val="90000"/>
              </a:lnSpc>
              <a:spcBef>
                <a:spcPts val="500"/>
              </a:spcBef>
              <a:spcAft>
                <a:spcPts val="0"/>
              </a:spcAft>
              <a:buClr>
                <a:schemeClr val="dk1"/>
              </a:buClr>
              <a:buSzPct val="100000"/>
              <a:buChar char="•"/>
            </a:pPr>
            <a:r>
              <a:rPr lang="en-US"/>
              <a:t>Web-based Client–Server Model</a:t>
            </a:r>
            <a:endParaRPr/>
          </a:p>
          <a:p>
            <a:pPr indent="-228600" lvl="1" marL="685800" rtl="0" algn="l">
              <a:lnSpc>
                <a:spcPct val="90000"/>
              </a:lnSpc>
              <a:spcBef>
                <a:spcPts val="500"/>
              </a:spcBef>
              <a:spcAft>
                <a:spcPts val="0"/>
              </a:spcAft>
              <a:buClr>
                <a:schemeClr val="dk1"/>
              </a:buClr>
              <a:buSzPct val="100000"/>
              <a:buChar char="•"/>
            </a:pPr>
            <a:r>
              <a:rPr lang="en-US"/>
              <a:t>Three-Layer Architecture:</a:t>
            </a:r>
            <a:endParaRPr/>
          </a:p>
          <a:p>
            <a:pPr indent="-285750" lvl="2" marL="1200150" rtl="0" algn="l">
              <a:lnSpc>
                <a:spcPct val="90000"/>
              </a:lnSpc>
              <a:spcBef>
                <a:spcPts val="500"/>
              </a:spcBef>
              <a:spcAft>
                <a:spcPts val="0"/>
              </a:spcAft>
              <a:buClr>
                <a:schemeClr val="dk1"/>
              </a:buClr>
              <a:buSzPct val="100000"/>
              <a:buChar char="•"/>
            </a:pPr>
            <a:r>
              <a:rPr lang="en-US"/>
              <a:t>Presentation Layer (User Interface)</a:t>
            </a:r>
            <a:endParaRPr/>
          </a:p>
          <a:p>
            <a:pPr indent="-285750" lvl="2" marL="1200150" rtl="0" algn="l">
              <a:lnSpc>
                <a:spcPct val="90000"/>
              </a:lnSpc>
              <a:spcBef>
                <a:spcPts val="500"/>
              </a:spcBef>
              <a:spcAft>
                <a:spcPts val="0"/>
              </a:spcAft>
              <a:buClr>
                <a:schemeClr val="dk1"/>
              </a:buClr>
              <a:buSzPct val="100000"/>
              <a:buChar char="•"/>
            </a:pPr>
            <a:r>
              <a:rPr lang="en-US"/>
              <a:t>Application Layer (Processing + AI Module)</a:t>
            </a:r>
            <a:endParaRPr/>
          </a:p>
          <a:p>
            <a:pPr indent="-285750" lvl="2" marL="1200150" rtl="0" algn="l">
              <a:lnSpc>
                <a:spcPct val="90000"/>
              </a:lnSpc>
              <a:spcBef>
                <a:spcPts val="500"/>
              </a:spcBef>
              <a:spcAft>
                <a:spcPts val="0"/>
              </a:spcAft>
              <a:buClr>
                <a:schemeClr val="dk1"/>
              </a:buClr>
              <a:buSzPct val="100000"/>
              <a:buChar char="•"/>
            </a:pPr>
            <a:r>
              <a:rPr lang="en-US"/>
              <a:t>Data Layer (Centralized Database)</a:t>
            </a:r>
            <a:endParaRPr/>
          </a:p>
          <a:p>
            <a:pPr indent="-228600" lvl="0" marL="228600" rtl="0" algn="l">
              <a:lnSpc>
                <a:spcPct val="90000"/>
              </a:lnSpc>
              <a:spcBef>
                <a:spcPts val="1000"/>
              </a:spcBef>
              <a:spcAft>
                <a:spcPts val="0"/>
              </a:spcAft>
              <a:buClr>
                <a:schemeClr val="dk1"/>
              </a:buClr>
              <a:buSzPct val="100000"/>
              <a:buChar char="•"/>
            </a:pPr>
            <a:r>
              <a:rPr b="1" lang="en-US"/>
              <a:t>Core Modules</a:t>
            </a:r>
            <a:endParaRPr/>
          </a:p>
          <a:p>
            <a:pPr indent="-228600" lvl="1" marL="685800" rtl="0" algn="l">
              <a:lnSpc>
                <a:spcPct val="90000"/>
              </a:lnSpc>
              <a:spcBef>
                <a:spcPts val="500"/>
              </a:spcBef>
              <a:spcAft>
                <a:spcPts val="0"/>
              </a:spcAft>
              <a:buClr>
                <a:schemeClr val="dk1"/>
              </a:buClr>
              <a:buSzPct val="100000"/>
              <a:buChar char="•"/>
            </a:pPr>
            <a:r>
              <a:rPr lang="en-US"/>
              <a:t>Evaluation Management</a:t>
            </a:r>
            <a:endParaRPr/>
          </a:p>
          <a:p>
            <a:pPr indent="-228600" lvl="1" marL="685800" rtl="0" algn="l">
              <a:lnSpc>
                <a:spcPct val="90000"/>
              </a:lnSpc>
              <a:spcBef>
                <a:spcPts val="500"/>
              </a:spcBef>
              <a:spcAft>
                <a:spcPts val="0"/>
              </a:spcAft>
              <a:buClr>
                <a:schemeClr val="dk1"/>
              </a:buClr>
              <a:buSzPct val="100000"/>
              <a:buChar char="•"/>
            </a:pPr>
            <a:r>
              <a:rPr lang="en-US"/>
              <a:t>Authentication &amp; Access Control</a:t>
            </a:r>
            <a:endParaRPr/>
          </a:p>
          <a:p>
            <a:pPr indent="-228600" lvl="1" marL="685800" rtl="0" algn="l">
              <a:lnSpc>
                <a:spcPct val="90000"/>
              </a:lnSpc>
              <a:spcBef>
                <a:spcPts val="500"/>
              </a:spcBef>
              <a:spcAft>
                <a:spcPts val="0"/>
              </a:spcAft>
              <a:buClr>
                <a:schemeClr val="dk1"/>
              </a:buClr>
              <a:buSzPct val="100000"/>
              <a:buChar char="•"/>
            </a:pPr>
            <a:r>
              <a:rPr lang="en-US"/>
              <a:t>AI Feedback Analysis</a:t>
            </a:r>
            <a:endParaRPr/>
          </a:p>
          <a:p>
            <a:pPr indent="-228600" lvl="1" marL="685800" rtl="0" algn="l">
              <a:lnSpc>
                <a:spcPct val="90000"/>
              </a:lnSpc>
              <a:spcBef>
                <a:spcPts val="500"/>
              </a:spcBef>
              <a:spcAft>
                <a:spcPts val="0"/>
              </a:spcAft>
              <a:buClr>
                <a:schemeClr val="dk1"/>
              </a:buClr>
              <a:buSzPct val="100000"/>
              <a:buChar char="•"/>
            </a:pPr>
            <a:r>
              <a:rPr lang="en-US"/>
              <a:t>Reporting &amp; Dashboard</a:t>
            </a:r>
            <a:endParaRPr/>
          </a:p>
          <a:p>
            <a:pPr indent="-228600" lvl="1" marL="685800" rtl="0" algn="l">
              <a:lnSpc>
                <a:spcPct val="90000"/>
              </a:lnSpc>
              <a:spcBef>
                <a:spcPts val="500"/>
              </a:spcBef>
              <a:spcAft>
                <a:spcPts val="0"/>
              </a:spcAft>
              <a:buClr>
                <a:schemeClr val="dk1"/>
              </a:buClr>
              <a:buSzPct val="100000"/>
              <a:buChar char="•"/>
            </a:pPr>
            <a:r>
              <a:rPr lang="en-US"/>
              <a:t>Clearance Monitoring</a:t>
            </a:r>
            <a:endParaRPr/>
          </a:p>
          <a:p>
            <a:pPr indent="-228600" lvl="1" marL="685800" rtl="0" algn="l">
              <a:lnSpc>
                <a:spcPct val="90000"/>
              </a:lnSpc>
              <a:spcBef>
                <a:spcPts val="500"/>
              </a:spcBef>
              <a:spcAft>
                <a:spcPts val="0"/>
              </a:spcAft>
              <a:buClr>
                <a:schemeClr val="dk1"/>
              </a:buClr>
              <a:buSzPct val="100000"/>
              <a:buChar char="•"/>
            </a:pPr>
            <a:r>
              <a:rPr lang="en-US"/>
              <a:t>Administrative Management</a:t>
            </a:r>
            <a:endParaRPr/>
          </a:p>
          <a:p>
            <a:pPr indent="-77470" lvl="0" marL="228600" rtl="0" algn="l">
              <a:lnSpc>
                <a:spcPct val="90000"/>
              </a:lnSpc>
              <a:spcBef>
                <a:spcPts val="1000"/>
              </a:spcBef>
              <a:spcAft>
                <a:spcPts val="0"/>
              </a:spcAft>
              <a:buClr>
                <a:schemeClr val="dk1"/>
              </a:buClr>
              <a:buSzPct val="100000"/>
              <a:buNone/>
            </a:pPr>
            <a:r>
              <a:t/>
            </a:r>
            <a:endParaRPr/>
          </a:p>
        </p:txBody>
      </p:sp>
      <p:sp>
        <p:nvSpPr>
          <p:cNvPr id="166" name="Google Shape;166;p12"/>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72" name="Google Shape;17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Feasibility &amp; Cost–Benefit Summary</a:t>
            </a:r>
            <a:endParaRPr/>
          </a:p>
          <a:p>
            <a:pPr indent="-228600" lvl="0" marL="228600" rtl="0" algn="l">
              <a:lnSpc>
                <a:spcPct val="90000"/>
              </a:lnSpc>
              <a:spcBef>
                <a:spcPts val="1000"/>
              </a:spcBef>
              <a:spcAft>
                <a:spcPts val="0"/>
              </a:spcAft>
              <a:buClr>
                <a:schemeClr val="dk1"/>
              </a:buClr>
              <a:buSzPts val="2800"/>
              <a:buChar char="•"/>
            </a:pPr>
            <a:r>
              <a:rPr b="1" lang="en-US"/>
              <a:t>Feasibility Analysis</a:t>
            </a:r>
            <a:endParaRPr/>
          </a:p>
          <a:p>
            <a:pPr indent="-228600" lvl="1" marL="685800" rtl="0" algn="l">
              <a:lnSpc>
                <a:spcPct val="90000"/>
              </a:lnSpc>
              <a:spcBef>
                <a:spcPts val="500"/>
              </a:spcBef>
              <a:spcAft>
                <a:spcPts val="0"/>
              </a:spcAft>
              <a:buClr>
                <a:schemeClr val="dk1"/>
              </a:buClr>
              <a:buSzPts val="2400"/>
              <a:buChar char="•"/>
            </a:pPr>
            <a:r>
              <a:rPr lang="en-US"/>
              <a:t>✔ Technical (Existing server infrastructure sufficient)</a:t>
            </a:r>
            <a:endParaRPr/>
          </a:p>
          <a:p>
            <a:pPr indent="-228600" lvl="1" marL="685800" rtl="0" algn="l">
              <a:lnSpc>
                <a:spcPct val="90000"/>
              </a:lnSpc>
              <a:spcBef>
                <a:spcPts val="500"/>
              </a:spcBef>
              <a:spcAft>
                <a:spcPts val="0"/>
              </a:spcAft>
              <a:buClr>
                <a:schemeClr val="dk1"/>
              </a:buClr>
              <a:buSzPts val="2400"/>
              <a:buChar char="•"/>
            </a:pPr>
            <a:r>
              <a:rPr lang="en-US"/>
              <a:t>✔ Operational (Aligned with current workflows)</a:t>
            </a:r>
            <a:endParaRPr/>
          </a:p>
          <a:p>
            <a:pPr indent="-228600" lvl="1" marL="685800" rtl="0" algn="l">
              <a:lnSpc>
                <a:spcPct val="90000"/>
              </a:lnSpc>
              <a:spcBef>
                <a:spcPts val="500"/>
              </a:spcBef>
              <a:spcAft>
                <a:spcPts val="0"/>
              </a:spcAft>
              <a:buClr>
                <a:schemeClr val="dk1"/>
              </a:buClr>
              <a:buSzPts val="2400"/>
              <a:buChar char="•"/>
            </a:pPr>
            <a:r>
              <a:rPr lang="en-US"/>
              <a:t>✔ Economic (Positive ROI)</a:t>
            </a:r>
            <a:endParaRPr/>
          </a:p>
          <a:p>
            <a:pPr indent="-228600" lvl="1" marL="685800" rtl="0" algn="l">
              <a:lnSpc>
                <a:spcPct val="90000"/>
              </a:lnSpc>
              <a:spcBef>
                <a:spcPts val="500"/>
              </a:spcBef>
              <a:spcAft>
                <a:spcPts val="0"/>
              </a:spcAft>
              <a:buClr>
                <a:schemeClr val="dk1"/>
              </a:buClr>
              <a:buSzPts val="2400"/>
              <a:buChar char="•"/>
            </a:pPr>
            <a:r>
              <a:rPr lang="en-US"/>
              <a:t>✔ Schedule (Agile iterative timeline)</a:t>
            </a:r>
            <a:endParaRPr/>
          </a:p>
          <a:p>
            <a:pPr indent="-228600" lvl="0" marL="228600" rtl="0" algn="l">
              <a:lnSpc>
                <a:spcPct val="90000"/>
              </a:lnSpc>
              <a:spcBef>
                <a:spcPts val="1000"/>
              </a:spcBef>
              <a:spcAft>
                <a:spcPts val="0"/>
              </a:spcAft>
              <a:buClr>
                <a:schemeClr val="dk1"/>
              </a:buClr>
              <a:buSzPts val="2800"/>
              <a:buChar char="•"/>
            </a:pPr>
            <a:r>
              <a:rPr b="1" lang="en-US"/>
              <a:t>Cost–Benefit (3 Years)</a:t>
            </a:r>
            <a:endParaRPr/>
          </a:p>
          <a:p>
            <a:pPr indent="-228600" lvl="1" marL="685800" rtl="0" algn="l">
              <a:lnSpc>
                <a:spcPct val="90000"/>
              </a:lnSpc>
              <a:spcBef>
                <a:spcPts val="500"/>
              </a:spcBef>
              <a:spcAft>
                <a:spcPts val="0"/>
              </a:spcAft>
              <a:buClr>
                <a:schemeClr val="dk1"/>
              </a:buClr>
              <a:buSzPts val="2400"/>
              <a:buChar char="•"/>
            </a:pPr>
            <a:r>
              <a:rPr lang="en-US"/>
              <a:t>Total Cost: </a:t>
            </a:r>
            <a:r>
              <a:rPr b="1" lang="en-US"/>
              <a:t>₱590,000</a:t>
            </a:r>
            <a:endParaRPr/>
          </a:p>
          <a:p>
            <a:pPr indent="-228600" lvl="1" marL="685800" rtl="0" algn="l">
              <a:lnSpc>
                <a:spcPct val="90000"/>
              </a:lnSpc>
              <a:spcBef>
                <a:spcPts val="500"/>
              </a:spcBef>
              <a:spcAft>
                <a:spcPts val="0"/>
              </a:spcAft>
              <a:buClr>
                <a:schemeClr val="dk1"/>
              </a:buClr>
              <a:buSzPts val="2400"/>
              <a:buChar char="•"/>
            </a:pPr>
            <a:r>
              <a:rPr lang="en-US"/>
              <a:t>Total Benefit: </a:t>
            </a:r>
            <a:r>
              <a:rPr b="1" lang="en-US"/>
              <a:t>₱750,000</a:t>
            </a:r>
            <a:endParaRPr/>
          </a:p>
          <a:p>
            <a:pPr indent="-228600" lvl="1" marL="685800" rtl="0" algn="l">
              <a:lnSpc>
                <a:spcPct val="90000"/>
              </a:lnSpc>
              <a:spcBef>
                <a:spcPts val="500"/>
              </a:spcBef>
              <a:spcAft>
                <a:spcPts val="0"/>
              </a:spcAft>
              <a:buClr>
                <a:schemeClr val="dk1"/>
              </a:buClr>
              <a:buSzPts val="2400"/>
              <a:buChar char="•"/>
            </a:pPr>
            <a:r>
              <a:rPr lang="en-US"/>
              <a:t>Net Benefit: </a:t>
            </a:r>
            <a:r>
              <a:rPr b="1" lang="en-US"/>
              <a:t>₱160,000</a:t>
            </a:r>
            <a:endParaRPr/>
          </a:p>
          <a:p>
            <a:pPr indent="-228600" lvl="1" marL="685800" rtl="0" algn="l">
              <a:lnSpc>
                <a:spcPct val="90000"/>
              </a:lnSpc>
              <a:spcBef>
                <a:spcPts val="500"/>
              </a:spcBef>
              <a:spcAft>
                <a:spcPts val="0"/>
              </a:spcAft>
              <a:buClr>
                <a:schemeClr val="dk1"/>
              </a:buClr>
              <a:buSzPts val="2400"/>
              <a:buChar char="•"/>
            </a:pPr>
            <a:r>
              <a:rPr lang="en-US"/>
              <a:t>ROI: </a:t>
            </a:r>
            <a:r>
              <a:rPr b="1" lang="en-US"/>
              <a:t>27.12%</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3" name="Google Shape;173;p13"/>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79" name="Google Shape;17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Security, Data Privacy &amp; Technology Stack</a:t>
            </a:r>
            <a:endParaRPr/>
          </a:p>
          <a:p>
            <a:pPr indent="-228600" lvl="0" marL="228600" rtl="0" algn="l">
              <a:lnSpc>
                <a:spcPct val="90000"/>
              </a:lnSpc>
              <a:spcBef>
                <a:spcPts val="1000"/>
              </a:spcBef>
              <a:spcAft>
                <a:spcPts val="0"/>
              </a:spcAft>
              <a:buClr>
                <a:schemeClr val="dk1"/>
              </a:buClr>
              <a:buSzPts val="2800"/>
              <a:buChar char="•"/>
            </a:pPr>
            <a:r>
              <a:rPr b="1" lang="en-US"/>
              <a:t>Security Measures</a:t>
            </a:r>
            <a:endParaRPr/>
          </a:p>
          <a:p>
            <a:pPr indent="-228600" lvl="1" marL="685800" rtl="0" algn="l">
              <a:lnSpc>
                <a:spcPct val="90000"/>
              </a:lnSpc>
              <a:spcBef>
                <a:spcPts val="500"/>
              </a:spcBef>
              <a:spcAft>
                <a:spcPts val="0"/>
              </a:spcAft>
              <a:buClr>
                <a:schemeClr val="dk1"/>
              </a:buClr>
              <a:buSzPts val="2400"/>
              <a:buChar char="•"/>
            </a:pPr>
            <a:r>
              <a:rPr lang="en-US"/>
              <a:t>Role-based authentication</a:t>
            </a:r>
            <a:endParaRPr/>
          </a:p>
          <a:p>
            <a:pPr indent="-228600" lvl="1" marL="685800" rtl="0" algn="l">
              <a:lnSpc>
                <a:spcPct val="90000"/>
              </a:lnSpc>
              <a:spcBef>
                <a:spcPts val="500"/>
              </a:spcBef>
              <a:spcAft>
                <a:spcPts val="0"/>
              </a:spcAft>
              <a:buClr>
                <a:schemeClr val="dk1"/>
              </a:buClr>
              <a:buSzPts val="2400"/>
              <a:buChar char="•"/>
            </a:pPr>
            <a:r>
              <a:rPr lang="en-US"/>
              <a:t>Encrypted data transmission</a:t>
            </a:r>
            <a:endParaRPr/>
          </a:p>
          <a:p>
            <a:pPr indent="-228600" lvl="1" marL="685800" rtl="0" algn="l">
              <a:lnSpc>
                <a:spcPct val="90000"/>
              </a:lnSpc>
              <a:spcBef>
                <a:spcPts val="500"/>
              </a:spcBef>
              <a:spcAft>
                <a:spcPts val="0"/>
              </a:spcAft>
              <a:buClr>
                <a:schemeClr val="dk1"/>
              </a:buClr>
              <a:buSzPts val="2400"/>
              <a:buChar char="•"/>
            </a:pPr>
            <a:r>
              <a:rPr lang="en-US"/>
              <a:t>Audit logging &amp; activity monitoring</a:t>
            </a:r>
            <a:endParaRPr/>
          </a:p>
          <a:p>
            <a:pPr indent="-228600" lvl="1" marL="685800" rtl="0" algn="l">
              <a:lnSpc>
                <a:spcPct val="90000"/>
              </a:lnSpc>
              <a:spcBef>
                <a:spcPts val="500"/>
              </a:spcBef>
              <a:spcAft>
                <a:spcPts val="0"/>
              </a:spcAft>
              <a:buClr>
                <a:schemeClr val="dk1"/>
              </a:buClr>
              <a:buSzPts val="2400"/>
              <a:buChar char="•"/>
            </a:pPr>
            <a:r>
              <a:rPr lang="en-US"/>
              <a:t>Compliance with RA 10173 (Data Privacy Act)</a:t>
            </a:r>
            <a:endParaRPr/>
          </a:p>
          <a:p>
            <a:pPr indent="-228600" lvl="0" marL="228600" rtl="0" algn="l">
              <a:lnSpc>
                <a:spcPct val="90000"/>
              </a:lnSpc>
              <a:spcBef>
                <a:spcPts val="1000"/>
              </a:spcBef>
              <a:spcAft>
                <a:spcPts val="0"/>
              </a:spcAft>
              <a:buClr>
                <a:schemeClr val="dk1"/>
              </a:buClr>
              <a:buSzPts val="2800"/>
              <a:buChar char="•"/>
            </a:pPr>
            <a:r>
              <a:rPr b="1" lang="en-US"/>
              <a:t>Technology Stack</a:t>
            </a:r>
            <a:endParaRPr/>
          </a:p>
          <a:p>
            <a:pPr indent="-228600" lvl="1" marL="685800" rtl="0" algn="l">
              <a:lnSpc>
                <a:spcPct val="90000"/>
              </a:lnSpc>
              <a:spcBef>
                <a:spcPts val="500"/>
              </a:spcBef>
              <a:spcAft>
                <a:spcPts val="0"/>
              </a:spcAft>
              <a:buClr>
                <a:schemeClr val="dk1"/>
              </a:buClr>
              <a:buSzPts val="2400"/>
              <a:buChar char="•"/>
            </a:pPr>
            <a:r>
              <a:rPr lang="en-US"/>
              <a:t>Web-based programming framework</a:t>
            </a:r>
            <a:endParaRPr/>
          </a:p>
          <a:p>
            <a:pPr indent="-228600" lvl="1" marL="685800" rtl="0" algn="l">
              <a:lnSpc>
                <a:spcPct val="90000"/>
              </a:lnSpc>
              <a:spcBef>
                <a:spcPts val="500"/>
              </a:spcBef>
              <a:spcAft>
                <a:spcPts val="0"/>
              </a:spcAft>
              <a:buClr>
                <a:schemeClr val="dk1"/>
              </a:buClr>
              <a:buSzPts val="2400"/>
              <a:buChar char="•"/>
            </a:pPr>
            <a:r>
              <a:rPr lang="en-US"/>
              <a:t>Relational Database (RDBMS)</a:t>
            </a:r>
            <a:endParaRPr/>
          </a:p>
          <a:p>
            <a:pPr indent="-228600" lvl="1" marL="685800" rtl="0" algn="l">
              <a:lnSpc>
                <a:spcPct val="90000"/>
              </a:lnSpc>
              <a:spcBef>
                <a:spcPts val="500"/>
              </a:spcBef>
              <a:spcAft>
                <a:spcPts val="0"/>
              </a:spcAft>
              <a:buClr>
                <a:schemeClr val="dk1"/>
              </a:buClr>
              <a:buSzPts val="2400"/>
              <a:buChar char="•"/>
            </a:pPr>
            <a:r>
              <a:rPr lang="en-US"/>
              <a:t>AI-assisted text analysis (frequency-based summarization)</a:t>
            </a:r>
            <a:endParaRPr/>
          </a:p>
          <a:p>
            <a:pPr indent="-228600" lvl="1" marL="685800" rtl="0" algn="l">
              <a:lnSpc>
                <a:spcPct val="90000"/>
              </a:lnSpc>
              <a:spcBef>
                <a:spcPts val="500"/>
              </a:spcBef>
              <a:spcAft>
                <a:spcPts val="0"/>
              </a:spcAft>
              <a:buClr>
                <a:schemeClr val="dk1"/>
              </a:buClr>
              <a:buSzPts val="2400"/>
              <a:buChar char="•"/>
            </a:pPr>
            <a:r>
              <a:rPr lang="en-US"/>
              <a:t>Institutional server deployment</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80" name="Google Shape;180;p14"/>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86" name="Google Shape;186;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Procedural Flow</a:t>
            </a:r>
            <a:endParaRPr/>
          </a:p>
        </p:txBody>
      </p:sp>
      <p:sp>
        <p:nvSpPr>
          <p:cNvPr id="187" name="Google Shape;187;p15"/>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pic>
        <p:nvPicPr>
          <p:cNvPr id="188" name="Google Shape;188;p15"/>
          <p:cNvPicPr preferRelativeResize="0"/>
          <p:nvPr/>
        </p:nvPicPr>
        <p:blipFill rotWithShape="1">
          <a:blip r:embed="rId3">
            <a:alphaModFix/>
          </a:blip>
          <a:srcRect b="0" l="0" r="0" t="0"/>
          <a:stretch/>
        </p:blipFill>
        <p:spPr>
          <a:xfrm>
            <a:off x="4874078" y="1596118"/>
            <a:ext cx="3507921" cy="526188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194" name="Google Shape;19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Flow Diagram Level 0</a:t>
            </a:r>
            <a:endParaRPr/>
          </a:p>
        </p:txBody>
      </p:sp>
      <p:sp>
        <p:nvSpPr>
          <p:cNvPr id="195" name="Google Shape;195;p16"/>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pic>
        <p:nvPicPr>
          <p:cNvPr id="196" name="Google Shape;196;p16"/>
          <p:cNvPicPr preferRelativeResize="0"/>
          <p:nvPr/>
        </p:nvPicPr>
        <p:blipFill rotWithShape="1">
          <a:blip r:embed="rId3">
            <a:alphaModFix/>
          </a:blip>
          <a:srcRect b="0" l="0" r="0" t="0"/>
          <a:stretch/>
        </p:blipFill>
        <p:spPr>
          <a:xfrm>
            <a:off x="3256869" y="2272542"/>
            <a:ext cx="5678261" cy="40148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202" name="Google Shape;202;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Data Flow Diagram Level 1</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03" name="Google Shape;203;p17"/>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pic>
        <p:nvPicPr>
          <p:cNvPr id="204" name="Google Shape;204;p17"/>
          <p:cNvPicPr preferRelativeResize="0"/>
          <p:nvPr/>
        </p:nvPicPr>
        <p:blipFill rotWithShape="1">
          <a:blip r:embed="rId3">
            <a:alphaModFix/>
          </a:blip>
          <a:srcRect b="0" l="0" r="0" t="0"/>
          <a:stretch/>
        </p:blipFill>
        <p:spPr>
          <a:xfrm>
            <a:off x="2449284" y="2275795"/>
            <a:ext cx="6700157" cy="446677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210" name="Google Shape;21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Entity Relationship Diagram</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11" name="Google Shape;211;p18"/>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pic>
        <p:nvPicPr>
          <p:cNvPr id="212" name="Google Shape;212;p18"/>
          <p:cNvPicPr preferRelativeResize="0"/>
          <p:nvPr/>
        </p:nvPicPr>
        <p:blipFill rotWithShape="1">
          <a:blip r:embed="rId3">
            <a:alphaModFix/>
          </a:blip>
          <a:srcRect b="0" l="0" r="0" t="0"/>
          <a:stretch/>
        </p:blipFill>
        <p:spPr>
          <a:xfrm>
            <a:off x="2750003" y="2286679"/>
            <a:ext cx="6691993" cy="44613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Technical Background</a:t>
            </a:r>
            <a:endParaRPr/>
          </a:p>
        </p:txBody>
      </p:sp>
      <p:sp>
        <p:nvSpPr>
          <p:cNvPr id="218" name="Google Shape;218;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Logical Database Design</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19" name="Google Shape;219;p19"/>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pic>
        <p:nvPicPr>
          <p:cNvPr id="220" name="Google Shape;220;p19"/>
          <p:cNvPicPr preferRelativeResize="0"/>
          <p:nvPr/>
        </p:nvPicPr>
        <p:blipFill rotWithShape="1">
          <a:blip r:embed="rId3">
            <a:alphaModFix/>
          </a:blip>
          <a:srcRect b="0" l="0" r="0" t="0"/>
          <a:stretch/>
        </p:blipFill>
        <p:spPr>
          <a:xfrm>
            <a:off x="2196193" y="2249714"/>
            <a:ext cx="6594021" cy="439601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4: Research Methodology</a:t>
            </a:r>
            <a:endParaRPr/>
          </a:p>
        </p:txBody>
      </p:sp>
      <p:sp>
        <p:nvSpPr>
          <p:cNvPr id="226" name="Google Shape;226;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Research Design</a:t>
            </a:r>
            <a:endParaRPr/>
          </a:p>
          <a:p>
            <a:pPr indent="-228600" lvl="1" marL="685800" rtl="0" algn="l">
              <a:lnSpc>
                <a:spcPct val="90000"/>
              </a:lnSpc>
              <a:spcBef>
                <a:spcPts val="500"/>
              </a:spcBef>
              <a:spcAft>
                <a:spcPts val="0"/>
              </a:spcAft>
              <a:buClr>
                <a:schemeClr val="dk1"/>
              </a:buClr>
              <a:buSzPct val="100000"/>
              <a:buChar char="•"/>
            </a:pPr>
            <a:r>
              <a:rPr lang="en-US"/>
              <a:t>This study employed a </a:t>
            </a:r>
            <a:r>
              <a:rPr b="1" lang="en-US"/>
              <a:t>Design Science Research (DSR)</a:t>
            </a:r>
            <a:r>
              <a:rPr lang="en-US"/>
              <a:t> framework combined with a </a:t>
            </a:r>
            <a:r>
              <a:rPr b="1" lang="en-US"/>
              <a:t>mixed-method evaluative research design</a:t>
            </a:r>
            <a:r>
              <a:rPr lang="en-US"/>
              <a:t> to examine the effectiveness, quality compliance, usability, and institutional impact of the AI-Enhanced Web-Based Faculty Evaluation System. The methodology was aligned with the study objectives, which focused on knowledge generation regarding system security, AI-assisted qualitative analysis, ISO-based software quality compliance, user acceptance, and respondent-driven recommendations.</a:t>
            </a:r>
            <a:endParaRPr/>
          </a:p>
          <a:p>
            <a:pPr indent="-228600" lvl="1" marL="685800" rtl="0" algn="l">
              <a:lnSpc>
                <a:spcPct val="90000"/>
              </a:lnSpc>
              <a:spcBef>
                <a:spcPts val="500"/>
              </a:spcBef>
              <a:spcAft>
                <a:spcPts val="0"/>
              </a:spcAft>
              <a:buClr>
                <a:schemeClr val="dk1"/>
              </a:buClr>
              <a:buSzPct val="100000"/>
              <a:buChar char="•"/>
            </a:pPr>
            <a:r>
              <a:rPr lang="en-US"/>
              <a:t>The DSR approach supported the systematic development and evaluation of the system as a technological artifact, while the mixed-method design enabled comprehensive empirical validation using both quantitative and qualitative data. Quantitative methods were used to measure system quality, reliability, and operational efficiency. Qualitative methods were used to examine user perceptions, AI-generated summaries, and stakeholder recommendations.</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227" name="Google Shape;227;p20"/>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Chapter 3: Research Methodology</a:t>
            </a:r>
            <a:endParaRPr/>
          </a:p>
        </p:txBody>
      </p:sp>
      <p:sp>
        <p:nvSpPr>
          <p:cNvPr id="233" name="Google Shape;233;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Methodology Mapping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34" name="Google Shape;234;p21"/>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graphicFrame>
        <p:nvGraphicFramePr>
          <p:cNvPr id="235" name="Google Shape;235;p21"/>
          <p:cNvGraphicFramePr/>
          <p:nvPr/>
        </p:nvGraphicFramePr>
        <p:xfrm>
          <a:off x="138792" y="2288706"/>
          <a:ext cx="3000000" cy="3000000"/>
        </p:xfrm>
        <a:graphic>
          <a:graphicData uri="http://schemas.openxmlformats.org/drawingml/2006/table">
            <a:tbl>
              <a:tblPr>
                <a:noFill/>
                <a:tableStyleId>{F1B6BCEA-272E-4131-8E55-66BDB6B9899D}</a:tableStyleId>
              </a:tblPr>
              <a:tblGrid>
                <a:gridCol w="2372550"/>
                <a:gridCol w="2372550"/>
                <a:gridCol w="2372550"/>
                <a:gridCol w="2372550"/>
                <a:gridCol w="2372550"/>
              </a:tblGrid>
              <a:tr h="483475">
                <a:tc>
                  <a:txBody>
                    <a:bodyPr/>
                    <a:lstStyle/>
                    <a:p>
                      <a:pPr indent="0" lvl="0" marL="0" marR="0" rtl="0" algn="ctr">
                        <a:spcBef>
                          <a:spcPts val="0"/>
                        </a:spcBef>
                        <a:spcAft>
                          <a:spcPts val="0"/>
                        </a:spcAft>
                        <a:buNone/>
                      </a:pPr>
                      <a:r>
                        <a:rPr b="1" lang="en-US" sz="1200"/>
                        <a:t>Research Objective</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EE599"/>
                    </a:solidFill>
                  </a:tcPr>
                </a:tc>
                <a:tc>
                  <a:txBody>
                    <a:bodyPr/>
                    <a:lstStyle/>
                    <a:p>
                      <a:pPr indent="0" lvl="0" marL="0" marR="0" rtl="0" algn="ctr">
                        <a:spcBef>
                          <a:spcPts val="0"/>
                        </a:spcBef>
                        <a:spcAft>
                          <a:spcPts val="0"/>
                        </a:spcAft>
                        <a:buNone/>
                      </a:pPr>
                      <a:r>
                        <a:rPr b="1" lang="en-US" sz="1200"/>
                        <a:t>Data Source</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EE599"/>
                    </a:solidFill>
                  </a:tcPr>
                </a:tc>
                <a:tc>
                  <a:txBody>
                    <a:bodyPr/>
                    <a:lstStyle/>
                    <a:p>
                      <a:pPr indent="0" lvl="0" marL="0" marR="0" rtl="0" algn="ctr">
                        <a:spcBef>
                          <a:spcPts val="0"/>
                        </a:spcBef>
                        <a:spcAft>
                          <a:spcPts val="0"/>
                        </a:spcAft>
                        <a:buNone/>
                      </a:pPr>
                      <a:r>
                        <a:rPr b="1" lang="en-US" sz="1200"/>
                        <a:t>Data Gathering Method</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EE599"/>
                    </a:solidFill>
                  </a:tcPr>
                </a:tc>
                <a:tc>
                  <a:txBody>
                    <a:bodyPr/>
                    <a:lstStyle/>
                    <a:p>
                      <a:pPr indent="0" lvl="0" marL="0" marR="0" rtl="0" algn="ctr">
                        <a:spcBef>
                          <a:spcPts val="0"/>
                        </a:spcBef>
                        <a:spcAft>
                          <a:spcPts val="0"/>
                        </a:spcAft>
                        <a:buNone/>
                      </a:pPr>
                      <a:r>
                        <a:rPr b="1" lang="en-US" sz="1200"/>
                        <a:t>Statistical / Analytical Technique</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EE599"/>
                    </a:solidFill>
                  </a:tcPr>
                </a:tc>
                <a:tc>
                  <a:txBody>
                    <a:bodyPr/>
                    <a:lstStyle/>
                    <a:p>
                      <a:pPr indent="0" lvl="0" marL="0" marR="0" rtl="0" algn="ctr">
                        <a:spcBef>
                          <a:spcPts val="0"/>
                        </a:spcBef>
                        <a:spcAft>
                          <a:spcPts val="0"/>
                        </a:spcAft>
                        <a:buNone/>
                      </a:pPr>
                      <a:r>
                        <a:rPr b="1" lang="en-US" sz="1200"/>
                        <a:t>Expected Output</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EE599"/>
                    </a:solidFill>
                  </a:tcPr>
                </a:tc>
              </a:tr>
              <a:tr h="1063650">
                <a:tc>
                  <a:txBody>
                    <a:bodyPr/>
                    <a:lstStyle/>
                    <a:p>
                      <a:pPr indent="0" lvl="0" marL="0" marR="0" rtl="0" algn="l">
                        <a:spcBef>
                          <a:spcPts val="0"/>
                        </a:spcBef>
                        <a:spcAft>
                          <a:spcPts val="0"/>
                        </a:spcAft>
                        <a:buNone/>
                      </a:pPr>
                      <a:r>
                        <a:rPr b="1" lang="en-US" sz="1200"/>
                        <a:t>1. Examine relationship between authentication mechanisms and evaluation reliability</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System logs, user perception survey</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Log analysis, structured Likert-scale survey</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Mean, Standard Deviation, Variance comparison</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Level of perceived data reliability and authentication effectiveness</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73575">
                <a:tc>
                  <a:txBody>
                    <a:bodyPr/>
                    <a:lstStyle/>
                    <a:p>
                      <a:pPr indent="0" lvl="0" marL="0" marR="0" rtl="0" algn="l">
                        <a:spcBef>
                          <a:spcPts val="0"/>
                        </a:spcBef>
                        <a:spcAft>
                          <a:spcPts val="0"/>
                        </a:spcAft>
                        <a:buNone/>
                      </a:pPr>
                      <a:r>
                        <a:rPr b="1" lang="en-US" sz="1200"/>
                        <a:t>2. Assess effectiveness of AI-driven summarization and sentiment analysis</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Open-ended evaluation comments, AI-generated summaries</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AI text processing + manual thematic validation</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Keyword frequency analysis, Thematic analysis, Mean perception rating</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Accuracy, usefulness, and interpretability of AI outputs</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73575">
                <a:tc>
                  <a:txBody>
                    <a:bodyPr/>
                    <a:lstStyle/>
                    <a:p>
                      <a:pPr indent="0" lvl="0" marL="0" marR="0" rtl="0" algn="l">
                        <a:spcBef>
                          <a:spcPts val="0"/>
                        </a:spcBef>
                        <a:spcAft>
                          <a:spcPts val="0"/>
                        </a:spcAft>
                        <a:buNone/>
                      </a:pPr>
                      <a:r>
                        <a:rPr b="1" lang="en-US" sz="1200"/>
                        <a:t>3. Evaluate compliance with ISO/IEC 25010 quality characteristics</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Post-use system quality survey</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ISO-based structured questionnaire</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Weighted Mean, Standard Deviation, Cronbach’s Alpha</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Quality rating across functional suitability, usability, security, reliability, performance</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8525">
                <a:tc>
                  <a:txBody>
                    <a:bodyPr/>
                    <a:lstStyle/>
                    <a:p>
                      <a:pPr indent="0" lvl="0" marL="0" marR="0" rtl="0" algn="l">
                        <a:spcBef>
                          <a:spcPts val="0"/>
                        </a:spcBef>
                        <a:spcAft>
                          <a:spcPts val="0"/>
                        </a:spcAft>
                        <a:buNone/>
                      </a:pPr>
                      <a:r>
                        <a:rPr b="1" lang="en-US" sz="1200"/>
                        <a:t>4. Identify factors influencing user satisfaction and system acceptance</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User perception survey (students, faculty, supervisors, HR)</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Post-implementation survey</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Mean comparison, Percentage distribution</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Usability level, trust, satisfaction, acceptance factors</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8525">
                <a:tc>
                  <a:txBody>
                    <a:bodyPr/>
                    <a:lstStyle/>
                    <a:p>
                      <a:pPr indent="0" lvl="0" marL="0" marR="0" rtl="0" algn="l">
                        <a:spcBef>
                          <a:spcPts val="0"/>
                        </a:spcBef>
                        <a:spcAft>
                          <a:spcPts val="0"/>
                        </a:spcAft>
                        <a:buNone/>
                      </a:pPr>
                      <a:r>
                        <a:rPr b="1" lang="en-US" sz="1200"/>
                        <a:t>5. Gather respondent-based suggestions and recommendations</a:t>
                      </a:r>
                      <a:endParaRPr sz="1200"/>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Open-ended survey responses</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Qualitative feedback collection</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Thematic categorization, Frequency count</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Consolidated improvement recommendations</a:t>
                      </a:r>
                      <a:endParaRPr/>
                    </a:p>
                  </a:txBody>
                  <a:tcPr marT="24175" marB="24175" marR="48350" marL="48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References</a:t>
            </a:r>
            <a:endParaRPr/>
          </a:p>
        </p:txBody>
      </p:sp>
      <p:sp>
        <p:nvSpPr>
          <p:cNvPr id="241" name="Google Shape;24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90000"/>
              </a:lnSpc>
              <a:spcBef>
                <a:spcPts val="0"/>
              </a:spcBef>
              <a:spcAft>
                <a:spcPts val="0"/>
              </a:spcAft>
              <a:buClr>
                <a:schemeClr val="dk1"/>
              </a:buClr>
              <a:buSzPct val="100000"/>
              <a:buChar char="•"/>
            </a:pPr>
            <a:r>
              <a:rPr b="1" lang="en-US"/>
              <a:t>References</a:t>
            </a:r>
            <a:endParaRPr/>
          </a:p>
          <a:p>
            <a:pPr indent="-228600" lvl="0" marL="228600" rtl="0" algn="l">
              <a:lnSpc>
                <a:spcPct val="90000"/>
              </a:lnSpc>
              <a:spcBef>
                <a:spcPts val="1000"/>
              </a:spcBef>
              <a:spcAft>
                <a:spcPts val="0"/>
              </a:spcAft>
              <a:buClr>
                <a:schemeClr val="dk1"/>
              </a:buClr>
              <a:buSzPct val="100000"/>
              <a:buChar char="•"/>
            </a:pPr>
            <a:r>
              <a:rPr lang="en-US"/>
              <a:t>[1] S. Furnell and N. Clarke, “Power to the people? The evolving recognition of human aspects of security,” </a:t>
            </a:r>
            <a:r>
              <a:rPr i="1" lang="en-US"/>
              <a:t>Computers &amp; Security</a:t>
            </a:r>
            <a:r>
              <a:rPr lang="en-US"/>
              <a:t>, vol. 31, no. 8, pp. 983–988, 2012.</a:t>
            </a:r>
            <a:endParaRPr/>
          </a:p>
          <a:p>
            <a:pPr indent="-228600" lvl="0" marL="228600" rtl="0" algn="l">
              <a:lnSpc>
                <a:spcPct val="90000"/>
              </a:lnSpc>
              <a:spcBef>
                <a:spcPts val="1000"/>
              </a:spcBef>
              <a:spcAft>
                <a:spcPts val="0"/>
              </a:spcAft>
              <a:buClr>
                <a:schemeClr val="dk1"/>
              </a:buClr>
              <a:buSzPct val="100000"/>
              <a:buChar char="•"/>
            </a:pPr>
            <a:r>
              <a:rPr lang="en-US"/>
              <a:t>[2] W. H. DeLone and E. R. McLean, “The DeLone and McLean model of information systems success: A ten-year update,” </a:t>
            </a:r>
            <a:r>
              <a:rPr i="1" lang="en-US"/>
              <a:t>Journal of Management Information Systems</a:t>
            </a:r>
            <a:r>
              <a:rPr lang="en-US"/>
              <a:t>, vol. 19, no. 4, pp. 9–30, 2003.</a:t>
            </a:r>
            <a:endParaRPr/>
          </a:p>
          <a:p>
            <a:pPr indent="-228600" lvl="0" marL="228600" rtl="0" algn="l">
              <a:lnSpc>
                <a:spcPct val="90000"/>
              </a:lnSpc>
              <a:spcBef>
                <a:spcPts val="1000"/>
              </a:spcBef>
              <a:spcAft>
                <a:spcPts val="0"/>
              </a:spcAft>
              <a:buClr>
                <a:schemeClr val="dk1"/>
              </a:buClr>
              <a:buSzPct val="100000"/>
              <a:buChar char="•"/>
            </a:pPr>
            <a:r>
              <a:rPr lang="en-US"/>
              <a:t>[3] B. Liu, </a:t>
            </a:r>
            <a:r>
              <a:rPr i="1" lang="en-US"/>
              <a:t>Sentiment Analysis and Opinion Mining</a:t>
            </a:r>
            <a:r>
              <a:rPr lang="en-US"/>
              <a:t>. San Rafael, CA, USA: Morgan &amp; Claypool, 2012.</a:t>
            </a:r>
            <a:endParaRPr/>
          </a:p>
          <a:p>
            <a:pPr indent="-228600" lvl="0" marL="228600" rtl="0" algn="l">
              <a:lnSpc>
                <a:spcPct val="90000"/>
              </a:lnSpc>
              <a:spcBef>
                <a:spcPts val="1000"/>
              </a:spcBef>
              <a:spcAft>
                <a:spcPts val="0"/>
              </a:spcAft>
              <a:buClr>
                <a:schemeClr val="dk1"/>
              </a:buClr>
              <a:buSzPct val="100000"/>
              <a:buChar char="•"/>
            </a:pPr>
            <a:r>
              <a:rPr lang="en-US"/>
              <a:t>[4] K. Sparck Jones, “Automatic summarising: The state of the art,” </a:t>
            </a:r>
            <a:r>
              <a:rPr i="1" lang="en-US"/>
              <a:t>Information Processing &amp; Management</a:t>
            </a:r>
            <a:r>
              <a:rPr lang="en-US"/>
              <a:t>, vol. 43, no. 6, pp. 1449–1481, 2007.</a:t>
            </a:r>
            <a:endParaRPr/>
          </a:p>
          <a:p>
            <a:pPr indent="-228600" lvl="0" marL="228600" rtl="0" algn="l">
              <a:lnSpc>
                <a:spcPct val="90000"/>
              </a:lnSpc>
              <a:spcBef>
                <a:spcPts val="1000"/>
              </a:spcBef>
              <a:spcAft>
                <a:spcPts val="0"/>
              </a:spcAft>
              <a:buClr>
                <a:schemeClr val="dk1"/>
              </a:buClr>
              <a:buSzPct val="100000"/>
              <a:buChar char="•"/>
            </a:pPr>
            <a:r>
              <a:rPr lang="en-US"/>
              <a:t>[5] ISO/IEC 25010:2011, </a:t>
            </a:r>
            <a:r>
              <a:rPr i="1" lang="en-US"/>
              <a:t>Systems and Software Engineering—Systems and Software Quality Requirements and Evaluation (SQuaRE)—System and Software Quality Models</a:t>
            </a:r>
            <a:r>
              <a:rPr lang="en-US"/>
              <a:t>, International Organization for Standardization, 2011.</a:t>
            </a:r>
            <a:endParaRPr/>
          </a:p>
          <a:p>
            <a:pPr indent="-228600" lvl="0" marL="228600" rtl="0" algn="l">
              <a:lnSpc>
                <a:spcPct val="90000"/>
              </a:lnSpc>
              <a:spcBef>
                <a:spcPts val="1000"/>
              </a:spcBef>
              <a:spcAft>
                <a:spcPts val="0"/>
              </a:spcAft>
              <a:buClr>
                <a:schemeClr val="dk1"/>
              </a:buClr>
              <a:buSzPct val="100000"/>
              <a:buChar char="•"/>
            </a:pPr>
            <a:r>
              <a:rPr lang="en-US"/>
              <a:t>[6] F. D. Davis, “Perceived usefulness, perceived ease of use, and user acceptance of information technology,” </a:t>
            </a:r>
            <a:r>
              <a:rPr i="1" lang="en-US"/>
              <a:t>MIS Quarterly</a:t>
            </a:r>
            <a:r>
              <a:rPr lang="en-US"/>
              <a:t>, vol. 13, no. 3, pp. 319–340, 1989.</a:t>
            </a:r>
            <a:endParaRPr/>
          </a:p>
          <a:p>
            <a:pPr indent="-228600" lvl="0" marL="228600" rtl="0" algn="l">
              <a:lnSpc>
                <a:spcPct val="90000"/>
              </a:lnSpc>
              <a:spcBef>
                <a:spcPts val="1000"/>
              </a:spcBef>
              <a:spcAft>
                <a:spcPts val="0"/>
              </a:spcAft>
              <a:buClr>
                <a:schemeClr val="dk1"/>
              </a:buClr>
              <a:buSzPct val="100000"/>
              <a:buChar char="•"/>
            </a:pPr>
            <a:r>
              <a:rPr lang="en-US"/>
              <a:t>[7] D. Gefen, E. Karahanna, and D. W. Straub, “Trust and TAM in online shopping,” </a:t>
            </a:r>
            <a:r>
              <a:rPr i="1" lang="en-US"/>
              <a:t>MIS Quarterly</a:t>
            </a:r>
            <a:r>
              <a:rPr lang="en-US"/>
              <a:t>, vol. 27, no. 1, pp. 51–90, 2003.</a:t>
            </a:r>
            <a:endParaRPr/>
          </a:p>
          <a:p>
            <a:pPr indent="-228600" lvl="0" marL="228600" rtl="0" algn="l">
              <a:lnSpc>
                <a:spcPct val="90000"/>
              </a:lnSpc>
              <a:spcBef>
                <a:spcPts val="1000"/>
              </a:spcBef>
              <a:spcAft>
                <a:spcPts val="0"/>
              </a:spcAft>
              <a:buClr>
                <a:schemeClr val="dk1"/>
              </a:buClr>
              <a:buSzPct val="100000"/>
              <a:buChar char="•"/>
            </a:pPr>
            <a:r>
              <a:rPr lang="en-US"/>
              <a:t>[8] E. Brynjolfsson and L. Hitt, “Beyond computation: Information technology, organizational transformation and business performance,” </a:t>
            </a:r>
            <a:r>
              <a:rPr i="1" lang="en-US"/>
              <a:t>Journal of Economic Perspectives</a:t>
            </a:r>
            <a:r>
              <a:rPr lang="en-US"/>
              <a:t>, vol. 14, no. 4, pp. 23–48, 2000.</a:t>
            </a:r>
            <a:endParaRPr/>
          </a:p>
          <a:p>
            <a:pPr indent="-130810" lvl="0" marL="228600" rtl="0" algn="l">
              <a:lnSpc>
                <a:spcPct val="90000"/>
              </a:lnSpc>
              <a:spcBef>
                <a:spcPts val="1000"/>
              </a:spcBef>
              <a:spcAft>
                <a:spcPts val="0"/>
              </a:spcAft>
              <a:buClr>
                <a:schemeClr val="dk1"/>
              </a:buClr>
              <a:buSzPct val="100000"/>
              <a:buNone/>
            </a:pPr>
            <a:r>
              <a:t/>
            </a:r>
            <a:endParaRPr/>
          </a:p>
        </p:txBody>
      </p:sp>
      <p:sp>
        <p:nvSpPr>
          <p:cNvPr id="242" name="Google Shape;242;p22"/>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3"/>
          <p:cNvSpPr txBox="1"/>
          <p:nvPr>
            <p:ph type="title"/>
          </p:nvPr>
        </p:nvSpPr>
        <p:spPr>
          <a:xfrm>
            <a:off x="0" y="2766218"/>
            <a:ext cx="121920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b="1" lang="en-US" sz="8800"/>
              <a:t>Q &amp; A</a:t>
            </a:r>
            <a:endParaRPr sz="8800"/>
          </a:p>
        </p:txBody>
      </p:sp>
      <p:sp>
        <p:nvSpPr>
          <p:cNvPr id="248" name="Google Shape;248;p23"/>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0" y="2766218"/>
            <a:ext cx="121920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b="1" lang="en-US" sz="8800"/>
              <a:t>Thank You!</a:t>
            </a:r>
            <a:endParaRPr sz="8800"/>
          </a:p>
        </p:txBody>
      </p:sp>
      <p:sp>
        <p:nvSpPr>
          <p:cNvPr id="254" name="Google Shape;254;p24"/>
          <p:cNvSpPr txBox="1"/>
          <p:nvPr/>
        </p:nvSpPr>
        <p:spPr>
          <a:xfrm>
            <a:off x="0" y="0"/>
            <a:ext cx="12192000" cy="61232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National Aviation Academy of the Philippines</a:t>
            </a:r>
            <a:br>
              <a:rPr b="0" i="0" lang="en-US" sz="2000" u="none" cap="none" strike="noStrike">
                <a:solidFill>
                  <a:srgbClr val="000000"/>
                </a:solidFill>
                <a:latin typeface="Calibri"/>
                <a:ea typeface="Calibri"/>
                <a:cs typeface="Calibri"/>
                <a:sym typeface="Calibri"/>
              </a:rPr>
            </a:br>
            <a:r>
              <a:rPr b="1" i="0" lang="en-US" sz="2000" u="none" cap="none" strike="noStrike">
                <a:solidFill>
                  <a:srgbClr val="000000"/>
                </a:solidFill>
                <a:latin typeface="Calibri"/>
                <a:ea typeface="Calibri"/>
                <a:cs typeface="Calibri"/>
                <a:sym typeface="Calibri"/>
              </a:rPr>
              <a:t>Institute of Computer Studies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2026-02-24T02:13:16Z</dcterms:created>
  <dc:creator>Aron Alojado</dc:creator>
</cp:coreProperties>
</file>